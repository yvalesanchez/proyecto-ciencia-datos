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72" r:id="rId3"/>
    <p:sldId id="259" r:id="rId4"/>
    <p:sldId id="271" r:id="rId5"/>
    <p:sldId id="257" r:id="rId6"/>
    <p:sldId id="258" r:id="rId7"/>
    <p:sldId id="273" r:id="rId8"/>
    <p:sldId id="267" r:id="rId9"/>
    <p:sldId id="268" r:id="rId10"/>
    <p:sldId id="266" r:id="rId11"/>
    <p:sldId id="274" r:id="rId12"/>
    <p:sldId id="270" r:id="rId13"/>
    <p:sldId id="269" r:id="rId14"/>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82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8"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292044-2868-D44C-A6A4-B5DD359F009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4B0E3559-2056-5746-826D-80C2DFB598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dirty="0"/>
          </a:p>
        </p:txBody>
      </p:sp>
    </p:spTree>
    <p:extLst>
      <p:ext uri="{BB962C8B-B14F-4D97-AF65-F5344CB8AC3E}">
        <p14:creationId xmlns:p14="http://schemas.microsoft.com/office/powerpoint/2010/main" val="4275427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BCD034-A6AB-C241-BAB8-65A74DCA722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EC8682B-5B22-5748-B97B-40662D0171F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D943C5DE-8DF8-2548-8086-70544A9DDDA8}"/>
              </a:ext>
            </a:extLst>
          </p:cNvPr>
          <p:cNvSpPr>
            <a:spLocks noGrp="1"/>
          </p:cNvSpPr>
          <p:nvPr>
            <p:ph type="dt" sz="half" idx="10"/>
          </p:nvPr>
        </p:nvSpPr>
        <p:spPr>
          <a:xfrm>
            <a:off x="838200" y="6356350"/>
            <a:ext cx="2743200" cy="365125"/>
          </a:xfrm>
          <a:prstGeom prst="rect">
            <a:avLst/>
          </a:prstGeom>
        </p:spPr>
        <p:txBody>
          <a:bodyPr/>
          <a:lstStyle/>
          <a:p>
            <a:fld id="{C8013948-CF88-374D-9CD7-A016AF6E982B}" type="datetimeFigureOut">
              <a:rPr lang="es-CO" smtClean="0"/>
              <a:t>21/11/2025</a:t>
            </a:fld>
            <a:endParaRPr lang="es-CO"/>
          </a:p>
        </p:txBody>
      </p:sp>
      <p:sp>
        <p:nvSpPr>
          <p:cNvPr id="5" name="Marcador de pie de página 4">
            <a:extLst>
              <a:ext uri="{FF2B5EF4-FFF2-40B4-BE49-F238E27FC236}">
                <a16:creationId xmlns:a16="http://schemas.microsoft.com/office/drawing/2014/main" id="{0F8E5405-7A45-4C49-899C-54F898A4E63C}"/>
              </a:ext>
            </a:extLst>
          </p:cNvPr>
          <p:cNvSpPr>
            <a:spLocks noGrp="1"/>
          </p:cNvSpPr>
          <p:nvPr>
            <p:ph type="ftr" sz="quarter" idx="11"/>
          </p:nvPr>
        </p:nvSpPr>
        <p:spPr>
          <a:xfrm>
            <a:off x="4038600" y="6356350"/>
            <a:ext cx="4114800" cy="365125"/>
          </a:xfrm>
          <a:prstGeom prst="rect">
            <a:avLst/>
          </a:prstGeom>
        </p:spPr>
        <p:txBody>
          <a:bodyPr/>
          <a:lstStyle/>
          <a:p>
            <a:endParaRPr lang="es-CO"/>
          </a:p>
        </p:txBody>
      </p:sp>
      <p:sp>
        <p:nvSpPr>
          <p:cNvPr id="6" name="Marcador de número de diapositiva 5">
            <a:extLst>
              <a:ext uri="{FF2B5EF4-FFF2-40B4-BE49-F238E27FC236}">
                <a16:creationId xmlns:a16="http://schemas.microsoft.com/office/drawing/2014/main" id="{B11342C3-8E8D-DC4F-8C5E-DA54C9B8F4CA}"/>
              </a:ext>
            </a:extLst>
          </p:cNvPr>
          <p:cNvSpPr>
            <a:spLocks noGrp="1"/>
          </p:cNvSpPr>
          <p:nvPr>
            <p:ph type="sldNum" sz="quarter" idx="12"/>
          </p:nvPr>
        </p:nvSpPr>
        <p:spPr>
          <a:xfrm>
            <a:off x="8610600" y="6356350"/>
            <a:ext cx="2743200" cy="365125"/>
          </a:xfrm>
          <a:prstGeom prst="rect">
            <a:avLst/>
          </a:prstGeom>
        </p:spPr>
        <p:txBody>
          <a:bodyPr/>
          <a:lstStyle/>
          <a:p>
            <a:fld id="{F85603FB-F671-174A-9430-9E3DBD020924}" type="slidenum">
              <a:rPr lang="es-CO" smtClean="0"/>
              <a:t>‹Nº›</a:t>
            </a:fld>
            <a:endParaRPr lang="es-CO"/>
          </a:p>
        </p:txBody>
      </p:sp>
    </p:spTree>
    <p:extLst>
      <p:ext uri="{BB962C8B-B14F-4D97-AF65-F5344CB8AC3E}">
        <p14:creationId xmlns:p14="http://schemas.microsoft.com/office/powerpoint/2010/main" val="39717963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E0512B-0EB8-D24C-B3E3-CCCF39E815CE}"/>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384DB28C-D53E-8249-B465-3B67DE2126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6574256B-DF79-2C4B-AD10-E41396AD50CC}"/>
              </a:ext>
            </a:extLst>
          </p:cNvPr>
          <p:cNvSpPr>
            <a:spLocks noGrp="1"/>
          </p:cNvSpPr>
          <p:nvPr>
            <p:ph type="dt" sz="half" idx="10"/>
          </p:nvPr>
        </p:nvSpPr>
        <p:spPr>
          <a:xfrm>
            <a:off x="838200" y="6356350"/>
            <a:ext cx="2743200" cy="365125"/>
          </a:xfrm>
          <a:prstGeom prst="rect">
            <a:avLst/>
          </a:prstGeom>
        </p:spPr>
        <p:txBody>
          <a:bodyPr/>
          <a:lstStyle/>
          <a:p>
            <a:fld id="{C8013948-CF88-374D-9CD7-A016AF6E982B}" type="datetimeFigureOut">
              <a:rPr lang="es-CO" smtClean="0"/>
              <a:t>21/11/2025</a:t>
            </a:fld>
            <a:endParaRPr lang="es-CO"/>
          </a:p>
        </p:txBody>
      </p:sp>
      <p:sp>
        <p:nvSpPr>
          <p:cNvPr id="5" name="Marcador de pie de página 4">
            <a:extLst>
              <a:ext uri="{FF2B5EF4-FFF2-40B4-BE49-F238E27FC236}">
                <a16:creationId xmlns:a16="http://schemas.microsoft.com/office/drawing/2014/main" id="{09E6333B-4BF2-5B45-A830-4D6D3B47DFCD}"/>
              </a:ext>
            </a:extLst>
          </p:cNvPr>
          <p:cNvSpPr>
            <a:spLocks noGrp="1"/>
          </p:cNvSpPr>
          <p:nvPr>
            <p:ph type="ftr" sz="quarter" idx="11"/>
          </p:nvPr>
        </p:nvSpPr>
        <p:spPr>
          <a:xfrm>
            <a:off x="4038600" y="6356350"/>
            <a:ext cx="4114800" cy="365125"/>
          </a:xfrm>
          <a:prstGeom prst="rect">
            <a:avLst/>
          </a:prstGeom>
        </p:spPr>
        <p:txBody>
          <a:bodyPr/>
          <a:lstStyle/>
          <a:p>
            <a:endParaRPr lang="es-CO"/>
          </a:p>
        </p:txBody>
      </p:sp>
      <p:sp>
        <p:nvSpPr>
          <p:cNvPr id="6" name="Marcador de número de diapositiva 5">
            <a:extLst>
              <a:ext uri="{FF2B5EF4-FFF2-40B4-BE49-F238E27FC236}">
                <a16:creationId xmlns:a16="http://schemas.microsoft.com/office/drawing/2014/main" id="{2FF5C4C9-8C74-344B-B07F-3F8F63FE364B}"/>
              </a:ext>
            </a:extLst>
          </p:cNvPr>
          <p:cNvSpPr>
            <a:spLocks noGrp="1"/>
          </p:cNvSpPr>
          <p:nvPr>
            <p:ph type="sldNum" sz="quarter" idx="12"/>
          </p:nvPr>
        </p:nvSpPr>
        <p:spPr>
          <a:xfrm>
            <a:off x="8610600" y="6356350"/>
            <a:ext cx="2743200" cy="365125"/>
          </a:xfrm>
          <a:prstGeom prst="rect">
            <a:avLst/>
          </a:prstGeom>
        </p:spPr>
        <p:txBody>
          <a:bodyPr/>
          <a:lstStyle/>
          <a:p>
            <a:fld id="{F85603FB-F671-174A-9430-9E3DBD020924}" type="slidenum">
              <a:rPr lang="es-CO" smtClean="0"/>
              <a:t>‹Nº›</a:t>
            </a:fld>
            <a:endParaRPr lang="es-CO"/>
          </a:p>
        </p:txBody>
      </p:sp>
    </p:spTree>
    <p:extLst>
      <p:ext uri="{BB962C8B-B14F-4D97-AF65-F5344CB8AC3E}">
        <p14:creationId xmlns:p14="http://schemas.microsoft.com/office/powerpoint/2010/main" val="23564239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3730DF-5FF6-1B42-A0AA-D2F4A35A32F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2D9C291F-7530-2C45-88C1-C92555102FC7}"/>
              </a:ext>
            </a:extLst>
          </p:cNvPr>
          <p:cNvSpPr>
            <a:spLocks noGrp="1"/>
          </p:cNvSpPr>
          <p:nvPr>
            <p:ph sz="half" idx="1"/>
          </p:nvPr>
        </p:nvSpPr>
        <p:spPr>
          <a:xfrm>
            <a:off x="1797484" y="1825625"/>
            <a:ext cx="4222315"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B15214CA-42C3-EC4E-B64C-001492D0EB8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B4A8E3B5-C6AD-2041-92F4-AFA777DCC4C3}"/>
              </a:ext>
            </a:extLst>
          </p:cNvPr>
          <p:cNvSpPr>
            <a:spLocks noGrp="1"/>
          </p:cNvSpPr>
          <p:nvPr>
            <p:ph type="dt" sz="half" idx="10"/>
          </p:nvPr>
        </p:nvSpPr>
        <p:spPr>
          <a:xfrm>
            <a:off x="838200" y="6356350"/>
            <a:ext cx="2743200" cy="365125"/>
          </a:xfrm>
          <a:prstGeom prst="rect">
            <a:avLst/>
          </a:prstGeom>
        </p:spPr>
        <p:txBody>
          <a:bodyPr/>
          <a:lstStyle/>
          <a:p>
            <a:fld id="{C8013948-CF88-374D-9CD7-A016AF6E982B}" type="datetimeFigureOut">
              <a:rPr lang="es-CO" smtClean="0"/>
              <a:t>21/11/2025</a:t>
            </a:fld>
            <a:endParaRPr lang="es-CO"/>
          </a:p>
        </p:txBody>
      </p:sp>
      <p:sp>
        <p:nvSpPr>
          <p:cNvPr id="6" name="Marcador de pie de página 5">
            <a:extLst>
              <a:ext uri="{FF2B5EF4-FFF2-40B4-BE49-F238E27FC236}">
                <a16:creationId xmlns:a16="http://schemas.microsoft.com/office/drawing/2014/main" id="{FAFA3A59-4879-784E-9A19-C878FE0A8853}"/>
              </a:ext>
            </a:extLst>
          </p:cNvPr>
          <p:cNvSpPr>
            <a:spLocks noGrp="1"/>
          </p:cNvSpPr>
          <p:nvPr>
            <p:ph type="ftr" sz="quarter" idx="11"/>
          </p:nvPr>
        </p:nvSpPr>
        <p:spPr>
          <a:xfrm>
            <a:off x="4038600" y="6356350"/>
            <a:ext cx="4114800" cy="365125"/>
          </a:xfrm>
          <a:prstGeom prst="rect">
            <a:avLst/>
          </a:prstGeom>
        </p:spPr>
        <p:txBody>
          <a:bodyPr/>
          <a:lstStyle/>
          <a:p>
            <a:endParaRPr lang="es-CO"/>
          </a:p>
        </p:txBody>
      </p:sp>
      <p:sp>
        <p:nvSpPr>
          <p:cNvPr id="7" name="Marcador de número de diapositiva 6">
            <a:extLst>
              <a:ext uri="{FF2B5EF4-FFF2-40B4-BE49-F238E27FC236}">
                <a16:creationId xmlns:a16="http://schemas.microsoft.com/office/drawing/2014/main" id="{BF2366CB-952D-B144-8894-3F7F931E64C3}"/>
              </a:ext>
            </a:extLst>
          </p:cNvPr>
          <p:cNvSpPr>
            <a:spLocks noGrp="1"/>
          </p:cNvSpPr>
          <p:nvPr>
            <p:ph type="sldNum" sz="quarter" idx="12"/>
          </p:nvPr>
        </p:nvSpPr>
        <p:spPr>
          <a:xfrm>
            <a:off x="8610600" y="6356350"/>
            <a:ext cx="2743200" cy="365125"/>
          </a:xfrm>
          <a:prstGeom prst="rect">
            <a:avLst/>
          </a:prstGeom>
        </p:spPr>
        <p:txBody>
          <a:bodyPr/>
          <a:lstStyle/>
          <a:p>
            <a:fld id="{F85603FB-F671-174A-9430-9E3DBD020924}" type="slidenum">
              <a:rPr lang="es-CO" smtClean="0"/>
              <a:t>‹Nº›</a:t>
            </a:fld>
            <a:endParaRPr lang="es-CO"/>
          </a:p>
        </p:txBody>
      </p:sp>
    </p:spTree>
    <p:extLst>
      <p:ext uri="{BB962C8B-B14F-4D97-AF65-F5344CB8AC3E}">
        <p14:creationId xmlns:p14="http://schemas.microsoft.com/office/powerpoint/2010/main" val="32138397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773D58-6790-B349-957F-39182027FE44}"/>
              </a:ext>
            </a:extLst>
          </p:cNvPr>
          <p:cNvSpPr>
            <a:spLocks noGrp="1"/>
          </p:cNvSpPr>
          <p:nvPr>
            <p:ph type="title"/>
          </p:nvPr>
        </p:nvSpPr>
        <p:spPr>
          <a:xfrm>
            <a:off x="2358178" y="365125"/>
            <a:ext cx="8997209" cy="1325563"/>
          </a:xfrm>
        </p:spPr>
        <p:txBody>
          <a:bodyPr/>
          <a:lstStyle/>
          <a:p>
            <a:r>
              <a:rPr lang="es-ES"/>
              <a:t>Haga clic para modificar el estilo de título del patrón</a:t>
            </a:r>
            <a:endParaRPr lang="es-CO" dirty="0"/>
          </a:p>
        </p:txBody>
      </p:sp>
      <p:sp>
        <p:nvSpPr>
          <p:cNvPr id="3" name="Marcador de texto 2">
            <a:extLst>
              <a:ext uri="{FF2B5EF4-FFF2-40B4-BE49-F238E27FC236}">
                <a16:creationId xmlns:a16="http://schemas.microsoft.com/office/drawing/2014/main" id="{9CC318C2-AD0C-9D41-B0D9-D889D8B4FD47}"/>
              </a:ext>
            </a:extLst>
          </p:cNvPr>
          <p:cNvSpPr>
            <a:spLocks noGrp="1"/>
          </p:cNvSpPr>
          <p:nvPr>
            <p:ph type="body" idx="1"/>
          </p:nvPr>
        </p:nvSpPr>
        <p:spPr>
          <a:xfrm>
            <a:off x="1584542" y="1681163"/>
            <a:ext cx="441303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1D2C1AA8-C0BE-0648-9BEE-FD10CAB23EAA}"/>
              </a:ext>
            </a:extLst>
          </p:cNvPr>
          <p:cNvSpPr>
            <a:spLocks noGrp="1"/>
          </p:cNvSpPr>
          <p:nvPr>
            <p:ph sz="half" idx="2"/>
          </p:nvPr>
        </p:nvSpPr>
        <p:spPr>
          <a:xfrm>
            <a:off x="1584542" y="2505075"/>
            <a:ext cx="4413033"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C96DA2BA-7E76-314C-990F-E82BCA800FF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685DBDBC-DA8A-F64D-B082-00CE647B3A80}"/>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B6BB9C25-4A02-604D-A8CD-D6AC766F0D5D}"/>
              </a:ext>
            </a:extLst>
          </p:cNvPr>
          <p:cNvSpPr>
            <a:spLocks noGrp="1"/>
          </p:cNvSpPr>
          <p:nvPr>
            <p:ph type="dt" sz="half" idx="10"/>
          </p:nvPr>
        </p:nvSpPr>
        <p:spPr>
          <a:xfrm>
            <a:off x="838200" y="6356350"/>
            <a:ext cx="2743200" cy="365125"/>
          </a:xfrm>
          <a:prstGeom prst="rect">
            <a:avLst/>
          </a:prstGeom>
        </p:spPr>
        <p:txBody>
          <a:bodyPr/>
          <a:lstStyle/>
          <a:p>
            <a:fld id="{C8013948-CF88-374D-9CD7-A016AF6E982B}" type="datetimeFigureOut">
              <a:rPr lang="es-CO" smtClean="0"/>
              <a:t>21/11/2025</a:t>
            </a:fld>
            <a:endParaRPr lang="es-CO"/>
          </a:p>
        </p:txBody>
      </p:sp>
      <p:sp>
        <p:nvSpPr>
          <p:cNvPr id="8" name="Marcador de pie de página 7">
            <a:extLst>
              <a:ext uri="{FF2B5EF4-FFF2-40B4-BE49-F238E27FC236}">
                <a16:creationId xmlns:a16="http://schemas.microsoft.com/office/drawing/2014/main" id="{EF9EE635-24D6-F749-9B0D-CBD68083CB63}"/>
              </a:ext>
            </a:extLst>
          </p:cNvPr>
          <p:cNvSpPr>
            <a:spLocks noGrp="1"/>
          </p:cNvSpPr>
          <p:nvPr>
            <p:ph type="ftr" sz="quarter" idx="11"/>
          </p:nvPr>
        </p:nvSpPr>
        <p:spPr>
          <a:xfrm>
            <a:off x="4038600" y="6356350"/>
            <a:ext cx="4114800" cy="365125"/>
          </a:xfrm>
          <a:prstGeom prst="rect">
            <a:avLst/>
          </a:prstGeom>
        </p:spPr>
        <p:txBody>
          <a:bodyPr/>
          <a:lstStyle/>
          <a:p>
            <a:endParaRPr lang="es-CO"/>
          </a:p>
        </p:txBody>
      </p:sp>
      <p:sp>
        <p:nvSpPr>
          <p:cNvPr id="9" name="Marcador de número de diapositiva 8">
            <a:extLst>
              <a:ext uri="{FF2B5EF4-FFF2-40B4-BE49-F238E27FC236}">
                <a16:creationId xmlns:a16="http://schemas.microsoft.com/office/drawing/2014/main" id="{D9C94342-64C9-4E40-8803-A9B7991CA512}"/>
              </a:ext>
            </a:extLst>
          </p:cNvPr>
          <p:cNvSpPr>
            <a:spLocks noGrp="1"/>
          </p:cNvSpPr>
          <p:nvPr>
            <p:ph type="sldNum" sz="quarter" idx="12"/>
          </p:nvPr>
        </p:nvSpPr>
        <p:spPr>
          <a:xfrm>
            <a:off x="8610600" y="6356350"/>
            <a:ext cx="2743200" cy="365125"/>
          </a:xfrm>
          <a:prstGeom prst="rect">
            <a:avLst/>
          </a:prstGeom>
        </p:spPr>
        <p:txBody>
          <a:bodyPr/>
          <a:lstStyle/>
          <a:p>
            <a:fld id="{F85603FB-F671-174A-9430-9E3DBD020924}" type="slidenum">
              <a:rPr lang="es-CO" smtClean="0"/>
              <a:t>‹Nº›</a:t>
            </a:fld>
            <a:endParaRPr lang="es-CO"/>
          </a:p>
        </p:txBody>
      </p:sp>
    </p:spTree>
    <p:extLst>
      <p:ext uri="{BB962C8B-B14F-4D97-AF65-F5344CB8AC3E}">
        <p14:creationId xmlns:p14="http://schemas.microsoft.com/office/powerpoint/2010/main" val="1044343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263ADB-233D-D040-B1CA-9C2CB0724588}"/>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56BEF38F-E38D-9548-960A-D0546DA657B5}"/>
              </a:ext>
            </a:extLst>
          </p:cNvPr>
          <p:cNvSpPr>
            <a:spLocks noGrp="1"/>
          </p:cNvSpPr>
          <p:nvPr>
            <p:ph type="dt" sz="half" idx="10"/>
          </p:nvPr>
        </p:nvSpPr>
        <p:spPr>
          <a:xfrm>
            <a:off x="838200" y="6356350"/>
            <a:ext cx="2743200" cy="365125"/>
          </a:xfrm>
          <a:prstGeom prst="rect">
            <a:avLst/>
          </a:prstGeom>
        </p:spPr>
        <p:txBody>
          <a:bodyPr/>
          <a:lstStyle/>
          <a:p>
            <a:fld id="{C8013948-CF88-374D-9CD7-A016AF6E982B}" type="datetimeFigureOut">
              <a:rPr lang="es-CO" smtClean="0"/>
              <a:t>21/11/2025</a:t>
            </a:fld>
            <a:endParaRPr lang="es-CO"/>
          </a:p>
        </p:txBody>
      </p:sp>
      <p:sp>
        <p:nvSpPr>
          <p:cNvPr id="4" name="Marcador de pie de página 3">
            <a:extLst>
              <a:ext uri="{FF2B5EF4-FFF2-40B4-BE49-F238E27FC236}">
                <a16:creationId xmlns:a16="http://schemas.microsoft.com/office/drawing/2014/main" id="{77FFA283-0465-9B46-85DD-CA9BD5534C1A}"/>
              </a:ext>
            </a:extLst>
          </p:cNvPr>
          <p:cNvSpPr>
            <a:spLocks noGrp="1"/>
          </p:cNvSpPr>
          <p:nvPr>
            <p:ph type="ftr" sz="quarter" idx="11"/>
          </p:nvPr>
        </p:nvSpPr>
        <p:spPr>
          <a:xfrm>
            <a:off x="4038600" y="6356350"/>
            <a:ext cx="4114800" cy="365125"/>
          </a:xfrm>
          <a:prstGeom prst="rect">
            <a:avLst/>
          </a:prstGeom>
        </p:spPr>
        <p:txBody>
          <a:bodyPr/>
          <a:lstStyle/>
          <a:p>
            <a:endParaRPr lang="es-CO"/>
          </a:p>
        </p:txBody>
      </p:sp>
      <p:sp>
        <p:nvSpPr>
          <p:cNvPr id="5" name="Marcador de número de diapositiva 4">
            <a:extLst>
              <a:ext uri="{FF2B5EF4-FFF2-40B4-BE49-F238E27FC236}">
                <a16:creationId xmlns:a16="http://schemas.microsoft.com/office/drawing/2014/main" id="{CCB1565B-45A2-7741-A8CA-45C0C79B0294}"/>
              </a:ext>
            </a:extLst>
          </p:cNvPr>
          <p:cNvSpPr>
            <a:spLocks noGrp="1"/>
          </p:cNvSpPr>
          <p:nvPr>
            <p:ph type="sldNum" sz="quarter" idx="12"/>
          </p:nvPr>
        </p:nvSpPr>
        <p:spPr>
          <a:xfrm>
            <a:off x="8610600" y="6356350"/>
            <a:ext cx="2743200" cy="365125"/>
          </a:xfrm>
          <a:prstGeom prst="rect">
            <a:avLst/>
          </a:prstGeom>
        </p:spPr>
        <p:txBody>
          <a:bodyPr/>
          <a:lstStyle/>
          <a:p>
            <a:fld id="{F85603FB-F671-174A-9430-9E3DBD020924}" type="slidenum">
              <a:rPr lang="es-CO" smtClean="0"/>
              <a:t>‹Nº›</a:t>
            </a:fld>
            <a:endParaRPr lang="es-CO"/>
          </a:p>
        </p:txBody>
      </p:sp>
    </p:spTree>
    <p:extLst>
      <p:ext uri="{BB962C8B-B14F-4D97-AF65-F5344CB8AC3E}">
        <p14:creationId xmlns:p14="http://schemas.microsoft.com/office/powerpoint/2010/main" val="21217642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EC1A02F-4744-8743-B1A4-B58A1ACB7131}"/>
              </a:ext>
            </a:extLst>
          </p:cNvPr>
          <p:cNvSpPr>
            <a:spLocks noGrp="1"/>
          </p:cNvSpPr>
          <p:nvPr>
            <p:ph type="dt" sz="half" idx="10"/>
          </p:nvPr>
        </p:nvSpPr>
        <p:spPr>
          <a:xfrm>
            <a:off x="838200" y="6356350"/>
            <a:ext cx="2743200" cy="365125"/>
          </a:xfrm>
          <a:prstGeom prst="rect">
            <a:avLst/>
          </a:prstGeom>
        </p:spPr>
        <p:txBody>
          <a:bodyPr/>
          <a:lstStyle/>
          <a:p>
            <a:fld id="{C8013948-CF88-374D-9CD7-A016AF6E982B}" type="datetimeFigureOut">
              <a:rPr lang="es-CO" smtClean="0"/>
              <a:t>21/11/2025</a:t>
            </a:fld>
            <a:endParaRPr lang="es-CO"/>
          </a:p>
        </p:txBody>
      </p:sp>
      <p:sp>
        <p:nvSpPr>
          <p:cNvPr id="3" name="Marcador de pie de página 2">
            <a:extLst>
              <a:ext uri="{FF2B5EF4-FFF2-40B4-BE49-F238E27FC236}">
                <a16:creationId xmlns:a16="http://schemas.microsoft.com/office/drawing/2014/main" id="{226F6510-DA8E-2A45-B3F6-FE98F2950D93}"/>
              </a:ext>
            </a:extLst>
          </p:cNvPr>
          <p:cNvSpPr>
            <a:spLocks noGrp="1"/>
          </p:cNvSpPr>
          <p:nvPr>
            <p:ph type="ftr" sz="quarter" idx="11"/>
          </p:nvPr>
        </p:nvSpPr>
        <p:spPr>
          <a:xfrm>
            <a:off x="4038600" y="6356350"/>
            <a:ext cx="4114800" cy="365125"/>
          </a:xfrm>
          <a:prstGeom prst="rect">
            <a:avLst/>
          </a:prstGeom>
        </p:spPr>
        <p:txBody>
          <a:bodyPr/>
          <a:lstStyle/>
          <a:p>
            <a:endParaRPr lang="es-CO"/>
          </a:p>
        </p:txBody>
      </p:sp>
      <p:sp>
        <p:nvSpPr>
          <p:cNvPr id="4" name="Marcador de número de diapositiva 3">
            <a:extLst>
              <a:ext uri="{FF2B5EF4-FFF2-40B4-BE49-F238E27FC236}">
                <a16:creationId xmlns:a16="http://schemas.microsoft.com/office/drawing/2014/main" id="{F60CE142-8768-ED4B-8CF5-30C5C788AEDC}"/>
              </a:ext>
            </a:extLst>
          </p:cNvPr>
          <p:cNvSpPr>
            <a:spLocks noGrp="1"/>
          </p:cNvSpPr>
          <p:nvPr>
            <p:ph type="sldNum" sz="quarter" idx="12"/>
          </p:nvPr>
        </p:nvSpPr>
        <p:spPr>
          <a:xfrm>
            <a:off x="8610600" y="6356350"/>
            <a:ext cx="2743200" cy="365125"/>
          </a:xfrm>
          <a:prstGeom prst="rect">
            <a:avLst/>
          </a:prstGeom>
        </p:spPr>
        <p:txBody>
          <a:bodyPr/>
          <a:lstStyle/>
          <a:p>
            <a:fld id="{F85603FB-F671-174A-9430-9E3DBD020924}" type="slidenum">
              <a:rPr lang="es-CO" smtClean="0"/>
              <a:t>‹Nº›</a:t>
            </a:fld>
            <a:endParaRPr lang="es-CO"/>
          </a:p>
        </p:txBody>
      </p:sp>
    </p:spTree>
    <p:extLst>
      <p:ext uri="{BB962C8B-B14F-4D97-AF65-F5344CB8AC3E}">
        <p14:creationId xmlns:p14="http://schemas.microsoft.com/office/powerpoint/2010/main" val="2010181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8F16CE-E2A8-554A-92A7-8BED01FA5C32}"/>
              </a:ext>
            </a:extLst>
          </p:cNvPr>
          <p:cNvSpPr>
            <a:spLocks noGrp="1"/>
          </p:cNvSpPr>
          <p:nvPr>
            <p:ph type="title"/>
          </p:nvPr>
        </p:nvSpPr>
        <p:spPr>
          <a:xfrm>
            <a:off x="1609595" y="457200"/>
            <a:ext cx="3162430" cy="1600200"/>
          </a:xfrm>
        </p:spPr>
        <p:txBody>
          <a:bodyPr anchor="b"/>
          <a:lstStyle>
            <a:lvl1pPr>
              <a:defRPr sz="3200"/>
            </a:lvl1pPr>
          </a:lstStyle>
          <a:p>
            <a:r>
              <a:rPr lang="es-ES"/>
              <a:t>Haga clic para modificar el estilo de título del patrón</a:t>
            </a:r>
            <a:endParaRPr lang="es-CO" dirty="0"/>
          </a:p>
        </p:txBody>
      </p:sp>
      <p:sp>
        <p:nvSpPr>
          <p:cNvPr id="3" name="Marcador de contenido 2">
            <a:extLst>
              <a:ext uri="{FF2B5EF4-FFF2-40B4-BE49-F238E27FC236}">
                <a16:creationId xmlns:a16="http://schemas.microsoft.com/office/drawing/2014/main" id="{33C1A7F6-2686-1249-9DE9-3E286B1660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87841AFD-33D8-194B-981A-85DEC9233C08}"/>
              </a:ext>
            </a:extLst>
          </p:cNvPr>
          <p:cNvSpPr>
            <a:spLocks noGrp="1"/>
          </p:cNvSpPr>
          <p:nvPr>
            <p:ph type="body" sz="half" idx="2"/>
          </p:nvPr>
        </p:nvSpPr>
        <p:spPr>
          <a:xfrm>
            <a:off x="1609595" y="2057400"/>
            <a:ext cx="316243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B6F129A-5AEF-5A4A-80C1-647F997CB084}"/>
              </a:ext>
            </a:extLst>
          </p:cNvPr>
          <p:cNvSpPr>
            <a:spLocks noGrp="1"/>
          </p:cNvSpPr>
          <p:nvPr>
            <p:ph type="dt" sz="half" idx="10"/>
          </p:nvPr>
        </p:nvSpPr>
        <p:spPr>
          <a:xfrm>
            <a:off x="838200" y="6356350"/>
            <a:ext cx="2743200" cy="365125"/>
          </a:xfrm>
          <a:prstGeom prst="rect">
            <a:avLst/>
          </a:prstGeom>
        </p:spPr>
        <p:txBody>
          <a:bodyPr/>
          <a:lstStyle/>
          <a:p>
            <a:fld id="{C8013948-CF88-374D-9CD7-A016AF6E982B}" type="datetimeFigureOut">
              <a:rPr lang="es-CO" smtClean="0"/>
              <a:t>21/11/2025</a:t>
            </a:fld>
            <a:endParaRPr lang="es-CO"/>
          </a:p>
        </p:txBody>
      </p:sp>
      <p:sp>
        <p:nvSpPr>
          <p:cNvPr id="6" name="Marcador de pie de página 5">
            <a:extLst>
              <a:ext uri="{FF2B5EF4-FFF2-40B4-BE49-F238E27FC236}">
                <a16:creationId xmlns:a16="http://schemas.microsoft.com/office/drawing/2014/main" id="{6C4A2E69-030A-4949-954D-7766D3ADC7E8}"/>
              </a:ext>
            </a:extLst>
          </p:cNvPr>
          <p:cNvSpPr>
            <a:spLocks noGrp="1"/>
          </p:cNvSpPr>
          <p:nvPr>
            <p:ph type="ftr" sz="quarter" idx="11"/>
          </p:nvPr>
        </p:nvSpPr>
        <p:spPr>
          <a:xfrm>
            <a:off x="4038600" y="6356350"/>
            <a:ext cx="4114800" cy="365125"/>
          </a:xfrm>
          <a:prstGeom prst="rect">
            <a:avLst/>
          </a:prstGeom>
        </p:spPr>
        <p:txBody>
          <a:bodyPr/>
          <a:lstStyle/>
          <a:p>
            <a:endParaRPr lang="es-CO"/>
          </a:p>
        </p:txBody>
      </p:sp>
      <p:sp>
        <p:nvSpPr>
          <p:cNvPr id="7" name="Marcador de número de diapositiva 6">
            <a:extLst>
              <a:ext uri="{FF2B5EF4-FFF2-40B4-BE49-F238E27FC236}">
                <a16:creationId xmlns:a16="http://schemas.microsoft.com/office/drawing/2014/main" id="{89EB7F00-5420-2C44-9E77-E4636D42F5C6}"/>
              </a:ext>
            </a:extLst>
          </p:cNvPr>
          <p:cNvSpPr>
            <a:spLocks noGrp="1"/>
          </p:cNvSpPr>
          <p:nvPr>
            <p:ph type="sldNum" sz="quarter" idx="12"/>
          </p:nvPr>
        </p:nvSpPr>
        <p:spPr>
          <a:xfrm>
            <a:off x="8610600" y="6356350"/>
            <a:ext cx="2743200" cy="365125"/>
          </a:xfrm>
          <a:prstGeom prst="rect">
            <a:avLst/>
          </a:prstGeom>
        </p:spPr>
        <p:txBody>
          <a:bodyPr/>
          <a:lstStyle/>
          <a:p>
            <a:fld id="{F85603FB-F671-174A-9430-9E3DBD020924}" type="slidenum">
              <a:rPr lang="es-CO" smtClean="0"/>
              <a:t>‹Nº›</a:t>
            </a:fld>
            <a:endParaRPr lang="es-CO"/>
          </a:p>
        </p:txBody>
      </p:sp>
    </p:spTree>
    <p:extLst>
      <p:ext uri="{BB962C8B-B14F-4D97-AF65-F5344CB8AC3E}">
        <p14:creationId xmlns:p14="http://schemas.microsoft.com/office/powerpoint/2010/main" val="4080900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F951D8-F704-A64F-90BB-8198D7D6B6A5}"/>
              </a:ext>
            </a:extLst>
          </p:cNvPr>
          <p:cNvSpPr>
            <a:spLocks noGrp="1"/>
          </p:cNvSpPr>
          <p:nvPr>
            <p:ph type="title"/>
          </p:nvPr>
        </p:nvSpPr>
        <p:spPr>
          <a:xfrm>
            <a:off x="1653436" y="457200"/>
            <a:ext cx="3626285" cy="1600200"/>
          </a:xfrm>
        </p:spPr>
        <p:txBody>
          <a:bodyPr anchor="b"/>
          <a:lstStyle>
            <a:lvl1pPr>
              <a:defRPr sz="3200"/>
            </a:lvl1pPr>
          </a:lstStyle>
          <a:p>
            <a:r>
              <a:rPr lang="es-ES"/>
              <a:t>Haga clic para modificar el estilo de título del patrón</a:t>
            </a:r>
            <a:endParaRPr lang="es-CO" dirty="0"/>
          </a:p>
        </p:txBody>
      </p:sp>
      <p:sp>
        <p:nvSpPr>
          <p:cNvPr id="3" name="Marcador de posición de imagen 2">
            <a:extLst>
              <a:ext uri="{FF2B5EF4-FFF2-40B4-BE49-F238E27FC236}">
                <a16:creationId xmlns:a16="http://schemas.microsoft.com/office/drawing/2014/main" id="{5101F730-A771-A646-946D-C65EB95408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s-CO"/>
          </a:p>
        </p:txBody>
      </p:sp>
      <p:sp>
        <p:nvSpPr>
          <p:cNvPr id="4" name="Marcador de texto 3">
            <a:extLst>
              <a:ext uri="{FF2B5EF4-FFF2-40B4-BE49-F238E27FC236}">
                <a16:creationId xmlns:a16="http://schemas.microsoft.com/office/drawing/2014/main" id="{05A7F004-CC07-CB42-944F-23884F55C511}"/>
              </a:ext>
            </a:extLst>
          </p:cNvPr>
          <p:cNvSpPr>
            <a:spLocks noGrp="1"/>
          </p:cNvSpPr>
          <p:nvPr>
            <p:ph type="body" sz="half" idx="2"/>
          </p:nvPr>
        </p:nvSpPr>
        <p:spPr>
          <a:xfrm>
            <a:off x="1653436" y="2057400"/>
            <a:ext cx="3118589"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2B91919-D160-A54B-B3A9-E42324E822CE}"/>
              </a:ext>
            </a:extLst>
          </p:cNvPr>
          <p:cNvSpPr>
            <a:spLocks noGrp="1"/>
          </p:cNvSpPr>
          <p:nvPr>
            <p:ph type="dt" sz="half" idx="10"/>
          </p:nvPr>
        </p:nvSpPr>
        <p:spPr>
          <a:xfrm>
            <a:off x="838200" y="6356350"/>
            <a:ext cx="2743200" cy="365125"/>
          </a:xfrm>
          <a:prstGeom prst="rect">
            <a:avLst/>
          </a:prstGeom>
        </p:spPr>
        <p:txBody>
          <a:bodyPr/>
          <a:lstStyle/>
          <a:p>
            <a:fld id="{C8013948-CF88-374D-9CD7-A016AF6E982B}" type="datetimeFigureOut">
              <a:rPr lang="es-CO" smtClean="0"/>
              <a:t>21/11/2025</a:t>
            </a:fld>
            <a:endParaRPr lang="es-CO"/>
          </a:p>
        </p:txBody>
      </p:sp>
      <p:sp>
        <p:nvSpPr>
          <p:cNvPr id="6" name="Marcador de pie de página 5">
            <a:extLst>
              <a:ext uri="{FF2B5EF4-FFF2-40B4-BE49-F238E27FC236}">
                <a16:creationId xmlns:a16="http://schemas.microsoft.com/office/drawing/2014/main" id="{E61C45F4-1A98-DC48-B14C-42D858EEF829}"/>
              </a:ext>
            </a:extLst>
          </p:cNvPr>
          <p:cNvSpPr>
            <a:spLocks noGrp="1"/>
          </p:cNvSpPr>
          <p:nvPr>
            <p:ph type="ftr" sz="quarter" idx="11"/>
          </p:nvPr>
        </p:nvSpPr>
        <p:spPr>
          <a:xfrm>
            <a:off x="4038600" y="6356350"/>
            <a:ext cx="4114800" cy="365125"/>
          </a:xfrm>
          <a:prstGeom prst="rect">
            <a:avLst/>
          </a:prstGeom>
        </p:spPr>
        <p:txBody>
          <a:bodyPr/>
          <a:lstStyle/>
          <a:p>
            <a:endParaRPr lang="es-CO"/>
          </a:p>
        </p:txBody>
      </p:sp>
      <p:sp>
        <p:nvSpPr>
          <p:cNvPr id="7" name="Marcador de número de diapositiva 6">
            <a:extLst>
              <a:ext uri="{FF2B5EF4-FFF2-40B4-BE49-F238E27FC236}">
                <a16:creationId xmlns:a16="http://schemas.microsoft.com/office/drawing/2014/main" id="{0C3EACE6-0236-3E40-9244-F7FC8897EA57}"/>
              </a:ext>
            </a:extLst>
          </p:cNvPr>
          <p:cNvSpPr>
            <a:spLocks noGrp="1"/>
          </p:cNvSpPr>
          <p:nvPr>
            <p:ph type="sldNum" sz="quarter" idx="12"/>
          </p:nvPr>
        </p:nvSpPr>
        <p:spPr>
          <a:xfrm>
            <a:off x="8610600" y="6356350"/>
            <a:ext cx="2743200" cy="365125"/>
          </a:xfrm>
          <a:prstGeom prst="rect">
            <a:avLst/>
          </a:prstGeom>
        </p:spPr>
        <p:txBody>
          <a:bodyPr/>
          <a:lstStyle/>
          <a:p>
            <a:fld id="{F85603FB-F671-174A-9430-9E3DBD020924}" type="slidenum">
              <a:rPr lang="es-CO" smtClean="0"/>
              <a:t>‹Nº›</a:t>
            </a:fld>
            <a:endParaRPr lang="es-CO"/>
          </a:p>
        </p:txBody>
      </p:sp>
    </p:spTree>
    <p:extLst>
      <p:ext uri="{BB962C8B-B14F-4D97-AF65-F5344CB8AC3E}">
        <p14:creationId xmlns:p14="http://schemas.microsoft.com/office/powerpoint/2010/main" val="1730259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90EC03-4D66-5C49-827D-9DE7D7493B72}"/>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C2C0E77F-38B7-7B42-8D77-B68DEA11D030}"/>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C8F4D26-588B-2347-8208-9F261DF7F9F5}"/>
              </a:ext>
            </a:extLst>
          </p:cNvPr>
          <p:cNvSpPr>
            <a:spLocks noGrp="1"/>
          </p:cNvSpPr>
          <p:nvPr>
            <p:ph type="dt" sz="half" idx="10"/>
          </p:nvPr>
        </p:nvSpPr>
        <p:spPr>
          <a:xfrm>
            <a:off x="838200" y="6356350"/>
            <a:ext cx="2743200" cy="365125"/>
          </a:xfrm>
          <a:prstGeom prst="rect">
            <a:avLst/>
          </a:prstGeom>
        </p:spPr>
        <p:txBody>
          <a:bodyPr/>
          <a:lstStyle/>
          <a:p>
            <a:fld id="{C8013948-CF88-374D-9CD7-A016AF6E982B}" type="datetimeFigureOut">
              <a:rPr lang="es-CO" smtClean="0"/>
              <a:t>21/11/2025</a:t>
            </a:fld>
            <a:endParaRPr lang="es-CO"/>
          </a:p>
        </p:txBody>
      </p:sp>
      <p:sp>
        <p:nvSpPr>
          <p:cNvPr id="5" name="Marcador de pie de página 4">
            <a:extLst>
              <a:ext uri="{FF2B5EF4-FFF2-40B4-BE49-F238E27FC236}">
                <a16:creationId xmlns:a16="http://schemas.microsoft.com/office/drawing/2014/main" id="{0EC39F71-63AF-434E-AA73-A0B0BE16BFD7}"/>
              </a:ext>
            </a:extLst>
          </p:cNvPr>
          <p:cNvSpPr>
            <a:spLocks noGrp="1"/>
          </p:cNvSpPr>
          <p:nvPr>
            <p:ph type="ftr" sz="quarter" idx="11"/>
          </p:nvPr>
        </p:nvSpPr>
        <p:spPr>
          <a:xfrm>
            <a:off x="4038600" y="6356350"/>
            <a:ext cx="4114800" cy="365125"/>
          </a:xfrm>
          <a:prstGeom prst="rect">
            <a:avLst/>
          </a:prstGeom>
        </p:spPr>
        <p:txBody>
          <a:bodyPr/>
          <a:lstStyle/>
          <a:p>
            <a:endParaRPr lang="es-CO"/>
          </a:p>
        </p:txBody>
      </p:sp>
      <p:sp>
        <p:nvSpPr>
          <p:cNvPr id="6" name="Marcador de número de diapositiva 5">
            <a:extLst>
              <a:ext uri="{FF2B5EF4-FFF2-40B4-BE49-F238E27FC236}">
                <a16:creationId xmlns:a16="http://schemas.microsoft.com/office/drawing/2014/main" id="{02570429-4712-FC4D-83BB-ED7E5C27D1A6}"/>
              </a:ext>
            </a:extLst>
          </p:cNvPr>
          <p:cNvSpPr>
            <a:spLocks noGrp="1"/>
          </p:cNvSpPr>
          <p:nvPr>
            <p:ph type="sldNum" sz="quarter" idx="12"/>
          </p:nvPr>
        </p:nvSpPr>
        <p:spPr>
          <a:xfrm>
            <a:off x="8610600" y="6356350"/>
            <a:ext cx="2743200" cy="365125"/>
          </a:xfrm>
          <a:prstGeom prst="rect">
            <a:avLst/>
          </a:prstGeom>
        </p:spPr>
        <p:txBody>
          <a:bodyPr/>
          <a:lstStyle/>
          <a:p>
            <a:fld id="{F85603FB-F671-174A-9430-9E3DBD020924}" type="slidenum">
              <a:rPr lang="es-CO" smtClean="0"/>
              <a:t>‹Nº›</a:t>
            </a:fld>
            <a:endParaRPr lang="es-CO"/>
          </a:p>
        </p:txBody>
      </p:sp>
    </p:spTree>
    <p:extLst>
      <p:ext uri="{BB962C8B-B14F-4D97-AF65-F5344CB8AC3E}">
        <p14:creationId xmlns:p14="http://schemas.microsoft.com/office/powerpoint/2010/main" val="3630271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AC07525-F26F-DD49-AD81-3D5AF68A996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918EBA5-5F09-034C-953B-E76CE42F992D}"/>
              </a:ext>
            </a:extLst>
          </p:cNvPr>
          <p:cNvSpPr>
            <a:spLocks noGrp="1"/>
          </p:cNvSpPr>
          <p:nvPr>
            <p:ph type="body" orient="vert" idx="1"/>
          </p:nvPr>
        </p:nvSpPr>
        <p:spPr>
          <a:xfrm>
            <a:off x="1703540" y="365125"/>
            <a:ext cx="686896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C5EEAFF-91E3-324D-8742-A3B5A5408A17}"/>
              </a:ext>
            </a:extLst>
          </p:cNvPr>
          <p:cNvSpPr>
            <a:spLocks noGrp="1"/>
          </p:cNvSpPr>
          <p:nvPr>
            <p:ph type="dt" sz="half" idx="10"/>
          </p:nvPr>
        </p:nvSpPr>
        <p:spPr>
          <a:xfrm>
            <a:off x="838200" y="6356350"/>
            <a:ext cx="2743200" cy="365125"/>
          </a:xfrm>
          <a:prstGeom prst="rect">
            <a:avLst/>
          </a:prstGeom>
        </p:spPr>
        <p:txBody>
          <a:bodyPr/>
          <a:lstStyle/>
          <a:p>
            <a:fld id="{C8013948-CF88-374D-9CD7-A016AF6E982B}" type="datetimeFigureOut">
              <a:rPr lang="es-CO" smtClean="0"/>
              <a:t>21/11/2025</a:t>
            </a:fld>
            <a:endParaRPr lang="es-CO"/>
          </a:p>
        </p:txBody>
      </p:sp>
      <p:sp>
        <p:nvSpPr>
          <p:cNvPr id="5" name="Marcador de pie de página 4">
            <a:extLst>
              <a:ext uri="{FF2B5EF4-FFF2-40B4-BE49-F238E27FC236}">
                <a16:creationId xmlns:a16="http://schemas.microsoft.com/office/drawing/2014/main" id="{10E56BD7-90FC-AF45-A00C-F9DE53581755}"/>
              </a:ext>
            </a:extLst>
          </p:cNvPr>
          <p:cNvSpPr>
            <a:spLocks noGrp="1"/>
          </p:cNvSpPr>
          <p:nvPr>
            <p:ph type="ftr" sz="quarter" idx="11"/>
          </p:nvPr>
        </p:nvSpPr>
        <p:spPr>
          <a:xfrm>
            <a:off x="4038600" y="6356350"/>
            <a:ext cx="4114800" cy="365125"/>
          </a:xfrm>
          <a:prstGeom prst="rect">
            <a:avLst/>
          </a:prstGeom>
        </p:spPr>
        <p:txBody>
          <a:bodyPr/>
          <a:lstStyle/>
          <a:p>
            <a:endParaRPr lang="es-CO"/>
          </a:p>
        </p:txBody>
      </p:sp>
      <p:sp>
        <p:nvSpPr>
          <p:cNvPr id="6" name="Marcador de número de diapositiva 5">
            <a:extLst>
              <a:ext uri="{FF2B5EF4-FFF2-40B4-BE49-F238E27FC236}">
                <a16:creationId xmlns:a16="http://schemas.microsoft.com/office/drawing/2014/main" id="{D8F1A4DF-F1B1-9B49-B935-81ED2EDDE9D3}"/>
              </a:ext>
            </a:extLst>
          </p:cNvPr>
          <p:cNvSpPr>
            <a:spLocks noGrp="1"/>
          </p:cNvSpPr>
          <p:nvPr>
            <p:ph type="sldNum" sz="quarter" idx="12"/>
          </p:nvPr>
        </p:nvSpPr>
        <p:spPr>
          <a:xfrm>
            <a:off x="8610600" y="6356350"/>
            <a:ext cx="2743200" cy="365125"/>
          </a:xfrm>
          <a:prstGeom prst="rect">
            <a:avLst/>
          </a:prstGeom>
        </p:spPr>
        <p:txBody>
          <a:bodyPr/>
          <a:lstStyle/>
          <a:p>
            <a:fld id="{F85603FB-F671-174A-9430-9E3DBD020924}" type="slidenum">
              <a:rPr lang="es-CO" smtClean="0"/>
              <a:t>‹Nº›</a:t>
            </a:fld>
            <a:endParaRPr lang="es-CO"/>
          </a:p>
        </p:txBody>
      </p:sp>
    </p:spTree>
    <p:extLst>
      <p:ext uri="{BB962C8B-B14F-4D97-AF65-F5344CB8AC3E}">
        <p14:creationId xmlns:p14="http://schemas.microsoft.com/office/powerpoint/2010/main" val="3073721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EEEFC0AC-1504-1E42-834B-2AAD2C4491DC}"/>
              </a:ext>
            </a:extLst>
          </p:cNvPr>
          <p:cNvSpPr/>
          <p:nvPr/>
        </p:nvSpPr>
        <p:spPr>
          <a:xfrm>
            <a:off x="0" y="5938024"/>
            <a:ext cx="12192000" cy="919976"/>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Marcador de título 1">
            <a:extLst>
              <a:ext uri="{FF2B5EF4-FFF2-40B4-BE49-F238E27FC236}">
                <a16:creationId xmlns:a16="http://schemas.microsoft.com/office/drawing/2014/main" id="{19C44355-10E4-3046-91C1-F615A8606DDD}"/>
              </a:ext>
            </a:extLst>
          </p:cNvPr>
          <p:cNvSpPr>
            <a:spLocks noGrp="1"/>
          </p:cNvSpPr>
          <p:nvPr>
            <p:ph type="title"/>
          </p:nvPr>
        </p:nvSpPr>
        <p:spPr>
          <a:xfrm>
            <a:off x="2329840" y="365125"/>
            <a:ext cx="9023959"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05A58AAF-DB77-614B-BB3D-C9296A5992F1}"/>
              </a:ext>
            </a:extLst>
          </p:cNvPr>
          <p:cNvSpPr>
            <a:spLocks noGrp="1"/>
          </p:cNvSpPr>
          <p:nvPr>
            <p:ph type="body" idx="1"/>
          </p:nvPr>
        </p:nvSpPr>
        <p:spPr>
          <a:xfrm>
            <a:off x="2329840" y="1825625"/>
            <a:ext cx="9023960" cy="3873717"/>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
        <p:nvSpPr>
          <p:cNvPr id="8" name="Subtítulo 2">
            <a:extLst>
              <a:ext uri="{FF2B5EF4-FFF2-40B4-BE49-F238E27FC236}">
                <a16:creationId xmlns:a16="http://schemas.microsoft.com/office/drawing/2014/main" id="{03E53609-4015-164C-BC9B-8BED11ACD99E}"/>
              </a:ext>
            </a:extLst>
          </p:cNvPr>
          <p:cNvSpPr txBox="1">
            <a:spLocks/>
          </p:cNvSpPr>
          <p:nvPr/>
        </p:nvSpPr>
        <p:spPr>
          <a:xfrm>
            <a:off x="8653346" y="6259319"/>
            <a:ext cx="3360234" cy="36512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lumMod val="65000"/>
                    <a:lumOff val="35000"/>
                  </a:schemeClr>
                </a:solidFill>
                <a:latin typeface="Century Gothic" panose="020B0502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lumMod val="65000"/>
                    <a:lumOff val="35000"/>
                  </a:schemeClr>
                </a:solidFill>
                <a:latin typeface="Century Gothic" panose="020B0502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lumMod val="65000"/>
                    <a:lumOff val="35000"/>
                  </a:schemeClr>
                </a:solidFill>
                <a:latin typeface="Century Gothic" panose="020B0502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lumMod val="65000"/>
                    <a:lumOff val="35000"/>
                  </a:schemeClr>
                </a:solidFill>
                <a:latin typeface="Century Gothic" panose="020B0502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lumMod val="65000"/>
                    <a:lumOff val="35000"/>
                  </a:schemeClr>
                </a:solidFill>
                <a:latin typeface="Century Gothic" panose="020B0502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s-ES" sz="1600" dirty="0" err="1">
                <a:solidFill>
                  <a:schemeClr val="bg1"/>
                </a:solidFill>
              </a:rPr>
              <a:t>www.ucundinamarca.edu.co</a:t>
            </a:r>
            <a:endParaRPr lang="es-CO" sz="1600" dirty="0">
              <a:solidFill>
                <a:schemeClr val="bg1"/>
              </a:solidFill>
            </a:endParaRPr>
          </a:p>
        </p:txBody>
      </p:sp>
      <p:sp>
        <p:nvSpPr>
          <p:cNvPr id="9" name="Subtítulo 2">
            <a:extLst>
              <a:ext uri="{FF2B5EF4-FFF2-40B4-BE49-F238E27FC236}">
                <a16:creationId xmlns:a16="http://schemas.microsoft.com/office/drawing/2014/main" id="{33D2DD14-2899-794E-A0C9-CFF39AB82C24}"/>
              </a:ext>
            </a:extLst>
          </p:cNvPr>
          <p:cNvSpPr txBox="1">
            <a:spLocks/>
          </p:cNvSpPr>
          <p:nvPr/>
        </p:nvSpPr>
        <p:spPr>
          <a:xfrm>
            <a:off x="3445727" y="6307447"/>
            <a:ext cx="3360234" cy="31699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lumMod val="65000"/>
                    <a:lumOff val="35000"/>
                  </a:schemeClr>
                </a:solidFill>
                <a:latin typeface="Century Gothic" panose="020B0502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lumMod val="65000"/>
                    <a:lumOff val="35000"/>
                  </a:schemeClr>
                </a:solidFill>
                <a:latin typeface="Century Gothic" panose="020B0502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lumMod val="65000"/>
                    <a:lumOff val="35000"/>
                  </a:schemeClr>
                </a:solidFill>
                <a:latin typeface="Century Gothic" panose="020B0502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lumMod val="65000"/>
                    <a:lumOff val="35000"/>
                  </a:schemeClr>
                </a:solidFill>
                <a:latin typeface="Century Gothic" panose="020B0502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lumMod val="65000"/>
                    <a:lumOff val="35000"/>
                  </a:schemeClr>
                </a:solidFill>
                <a:latin typeface="Century Gothic" panose="020B0502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s-ES" sz="1200" dirty="0">
                <a:solidFill>
                  <a:schemeClr val="bg1"/>
                </a:solidFill>
              </a:rPr>
              <a:t>Vigilada </a:t>
            </a:r>
            <a:r>
              <a:rPr lang="es-ES" sz="1200" dirty="0" err="1">
                <a:solidFill>
                  <a:schemeClr val="bg1"/>
                </a:solidFill>
              </a:rPr>
              <a:t>MinEducación</a:t>
            </a:r>
            <a:endParaRPr lang="es-CO" sz="1200" dirty="0">
              <a:solidFill>
                <a:schemeClr val="bg1"/>
              </a:solidFill>
            </a:endParaRPr>
          </a:p>
        </p:txBody>
      </p:sp>
      <p:pic>
        <p:nvPicPr>
          <p:cNvPr id="10" name="Gráfico 9">
            <a:extLst>
              <a:ext uri="{FF2B5EF4-FFF2-40B4-BE49-F238E27FC236}">
                <a16:creationId xmlns:a16="http://schemas.microsoft.com/office/drawing/2014/main" id="{AFBC0E3D-D218-374B-A74E-EB1CF87A2522}"/>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54257" y="6132696"/>
            <a:ext cx="755650" cy="618372"/>
          </a:xfrm>
          <a:prstGeom prst="rect">
            <a:avLst/>
          </a:prstGeom>
        </p:spPr>
      </p:pic>
    </p:spTree>
    <p:extLst>
      <p:ext uri="{BB962C8B-B14F-4D97-AF65-F5344CB8AC3E}">
        <p14:creationId xmlns:p14="http://schemas.microsoft.com/office/powerpoint/2010/main" val="10884046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b="1" i="1" kern="1200">
          <a:solidFill>
            <a:srgbClr val="00482B"/>
          </a:solidFill>
          <a:latin typeface="Century Gothic" panose="020B0502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65000"/>
              <a:lumOff val="35000"/>
            </a:schemeClr>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65000"/>
              <a:lumOff val="35000"/>
            </a:schemeClr>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65000"/>
              <a:lumOff val="35000"/>
            </a:schemeClr>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microsoft.com/office/2011/relationships/webextension" Target="../webextensions/webextension1.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microsoft.com/office/2011/relationships/webextension" Target="../webextensions/webextension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microsoft.com/office/2011/relationships/webextension" Target="../webextensions/webextension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49B5DB-1DEA-E0DC-6542-6029E7AED5B6}"/>
              </a:ext>
            </a:extLst>
          </p:cNvPr>
          <p:cNvSpPr>
            <a:spLocks noGrp="1"/>
          </p:cNvSpPr>
          <p:nvPr>
            <p:ph type="ctrTitle"/>
          </p:nvPr>
        </p:nvSpPr>
        <p:spPr>
          <a:xfrm>
            <a:off x="1983740" y="1041400"/>
            <a:ext cx="9144000" cy="2387600"/>
          </a:xfrm>
        </p:spPr>
        <p:txBody>
          <a:bodyPr>
            <a:normAutofit/>
          </a:bodyPr>
          <a:lstStyle/>
          <a:p>
            <a:r>
              <a:rPr lang="es-419" sz="3600" i="0" u="none" strike="noStrike" dirty="0">
                <a:solidFill>
                  <a:schemeClr val="accent6">
                    <a:lumMod val="75000"/>
                  </a:schemeClr>
                </a:solidFill>
                <a:effectLst/>
                <a:latin typeface="Anton" pitchFamily="2" charset="0"/>
              </a:rPr>
              <a:t>SISTEMA PREDICTIVO DE ACV.SISTEMA PREDICTIVO </a:t>
            </a:r>
            <a:r>
              <a:rPr lang="es-419" sz="3600" b="0" i="0" u="none" strike="noStrike" dirty="0">
                <a:solidFill>
                  <a:schemeClr val="accent6">
                    <a:lumMod val="75000"/>
                  </a:schemeClr>
                </a:solidFill>
                <a:effectLst/>
                <a:latin typeface="Anton" pitchFamily="2" charset="0"/>
              </a:rPr>
              <a:t>DE </a:t>
            </a:r>
            <a:r>
              <a:rPr lang="es-419" sz="1800" b="0" i="0" u="none" strike="noStrike" dirty="0">
                <a:solidFill>
                  <a:srgbClr val="FFFFFF"/>
                </a:solidFill>
                <a:effectLst/>
                <a:latin typeface="Anton" pitchFamily="2" charset="0"/>
              </a:rPr>
              <a:t>ACV.</a:t>
            </a:r>
            <a:endParaRPr lang="es-CO" dirty="0"/>
          </a:p>
        </p:txBody>
      </p:sp>
      <p:sp>
        <p:nvSpPr>
          <p:cNvPr id="3" name="Subtítulo 2">
            <a:extLst>
              <a:ext uri="{FF2B5EF4-FFF2-40B4-BE49-F238E27FC236}">
                <a16:creationId xmlns:a16="http://schemas.microsoft.com/office/drawing/2014/main" id="{E2E18F3A-D7ED-FBD0-BA42-79522432440C}"/>
              </a:ext>
            </a:extLst>
          </p:cNvPr>
          <p:cNvSpPr>
            <a:spLocks noGrp="1"/>
          </p:cNvSpPr>
          <p:nvPr>
            <p:ph type="subTitle" idx="1"/>
          </p:nvPr>
        </p:nvSpPr>
        <p:spPr>
          <a:xfrm>
            <a:off x="1869440" y="3591878"/>
            <a:ext cx="9144000" cy="1655762"/>
          </a:xfrm>
        </p:spPr>
        <p:txBody>
          <a:bodyPr>
            <a:normAutofit/>
          </a:bodyPr>
          <a:lstStyle/>
          <a:p>
            <a:r>
              <a:rPr lang="es-CO" dirty="0"/>
              <a:t>Yeimy Valentina Sánchez Leguizamón</a:t>
            </a:r>
          </a:p>
          <a:p>
            <a:r>
              <a:rPr lang="es-CO" dirty="0"/>
              <a:t>Darikson Felipe Pérez Rodríguez</a:t>
            </a:r>
          </a:p>
          <a:p>
            <a:endParaRPr lang="es-CO" dirty="0"/>
          </a:p>
        </p:txBody>
      </p:sp>
    </p:spTree>
    <p:extLst>
      <p:ext uri="{BB962C8B-B14F-4D97-AF65-F5344CB8AC3E}">
        <p14:creationId xmlns:p14="http://schemas.microsoft.com/office/powerpoint/2010/main" val="28229955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5BC5F9-8835-F42D-CD33-6B32CE61F577}"/>
              </a:ext>
            </a:extLst>
          </p:cNvPr>
          <p:cNvSpPr>
            <a:spLocks noGrp="1"/>
          </p:cNvSpPr>
          <p:nvPr>
            <p:ph type="title"/>
          </p:nvPr>
        </p:nvSpPr>
        <p:spPr/>
        <p:txBody>
          <a:bodyPr/>
          <a:lstStyle/>
          <a:p>
            <a:r>
              <a:rPr lang="es-CO" dirty="0"/>
              <a:t>Implementación </a:t>
            </a:r>
            <a:endParaRPr lang="es-419" dirty="0"/>
          </a:p>
        </p:txBody>
      </p:sp>
      <p:sp>
        <p:nvSpPr>
          <p:cNvPr id="3" name="Marcador de contenido 2">
            <a:extLst>
              <a:ext uri="{FF2B5EF4-FFF2-40B4-BE49-F238E27FC236}">
                <a16:creationId xmlns:a16="http://schemas.microsoft.com/office/drawing/2014/main" id="{0C05F25E-6918-76C7-768D-7CEA3A42A7CE}"/>
              </a:ext>
            </a:extLst>
          </p:cNvPr>
          <p:cNvSpPr>
            <a:spLocks noGrp="1"/>
          </p:cNvSpPr>
          <p:nvPr>
            <p:ph idx="1"/>
          </p:nvPr>
        </p:nvSpPr>
        <p:spPr/>
        <p:txBody>
          <a:bodyPr/>
          <a:lstStyle/>
          <a:p>
            <a:pPr marL="215379" rtl="0" fontAlgn="base">
              <a:spcBef>
                <a:spcPts val="0"/>
              </a:spcBef>
              <a:spcAft>
                <a:spcPts val="0"/>
              </a:spcAft>
              <a:buFont typeface="+mj-lt"/>
              <a:buAutoNum type="arabicPeriod"/>
            </a:pPr>
            <a:r>
              <a:rPr lang="es-419" sz="1800" b="0" i="0" u="none" strike="noStrike" dirty="0">
                <a:solidFill>
                  <a:schemeClr val="tx1"/>
                </a:solidFill>
                <a:effectLst/>
                <a:latin typeface="Poppins" panose="00000500000000000000" pitchFamily="2" charset="0"/>
              </a:rPr>
              <a:t>Comprensión del negocio: salud pública,, necesidad de prevención</a:t>
            </a:r>
          </a:p>
          <a:p>
            <a:pPr marL="215379" rtl="0" fontAlgn="base">
              <a:spcBef>
                <a:spcPts val="0"/>
              </a:spcBef>
              <a:spcAft>
                <a:spcPts val="0"/>
              </a:spcAft>
              <a:buFont typeface="+mj-lt"/>
              <a:buAutoNum type="arabicPeriod"/>
            </a:pPr>
            <a:r>
              <a:rPr lang="es-419" sz="1800" b="0" i="0" u="none" strike="noStrike" dirty="0">
                <a:solidFill>
                  <a:schemeClr val="tx1"/>
                </a:solidFill>
                <a:effectLst/>
                <a:latin typeface="Poppins" panose="00000500000000000000" pitchFamily="2" charset="0"/>
              </a:rPr>
              <a:t>Comprensión de los datos: análisis de variables clínicas y demográficas</a:t>
            </a:r>
          </a:p>
          <a:p>
            <a:pPr marL="215379" rtl="0" fontAlgn="base">
              <a:spcBef>
                <a:spcPts val="0"/>
              </a:spcBef>
              <a:spcAft>
                <a:spcPts val="0"/>
              </a:spcAft>
              <a:buFont typeface="+mj-lt"/>
              <a:buAutoNum type="arabicPeriod"/>
            </a:pPr>
            <a:r>
              <a:rPr lang="es-419" sz="1800" b="0" i="0" u="none" strike="noStrike" dirty="0">
                <a:solidFill>
                  <a:schemeClr val="tx1"/>
                </a:solidFill>
                <a:effectLst/>
                <a:latin typeface="Poppins" panose="00000500000000000000" pitchFamily="2" charset="0"/>
              </a:rPr>
              <a:t>Preparación de los datos: Limpieza, codificación, tratamiento de nulos</a:t>
            </a:r>
          </a:p>
          <a:p>
            <a:pPr marL="215379" rtl="0" fontAlgn="base">
              <a:spcBef>
                <a:spcPts val="0"/>
              </a:spcBef>
              <a:spcAft>
                <a:spcPts val="0"/>
              </a:spcAft>
              <a:buFont typeface="+mj-lt"/>
              <a:buAutoNum type="arabicPeriod"/>
            </a:pPr>
            <a:r>
              <a:rPr lang="es-419" sz="1800" b="0" i="0" u="none" strike="noStrike" dirty="0">
                <a:solidFill>
                  <a:schemeClr val="tx1"/>
                </a:solidFill>
                <a:effectLst/>
                <a:latin typeface="Poppins" panose="00000500000000000000" pitchFamily="2" charset="0"/>
              </a:rPr>
              <a:t>Análisis exploratorio: distribución de variables y relaciones con ACV</a:t>
            </a:r>
          </a:p>
          <a:p>
            <a:pPr marL="215379" rtl="0" fontAlgn="base">
              <a:spcBef>
                <a:spcPts val="0"/>
              </a:spcBef>
              <a:spcAft>
                <a:spcPts val="0"/>
              </a:spcAft>
              <a:buFont typeface="+mj-lt"/>
              <a:buAutoNum type="arabicPeriod"/>
            </a:pPr>
            <a:r>
              <a:rPr lang="es-419" sz="1800" b="0" i="0" u="none" strike="noStrike" dirty="0">
                <a:solidFill>
                  <a:schemeClr val="tx1"/>
                </a:solidFill>
                <a:effectLst/>
                <a:latin typeface="Poppins" panose="00000500000000000000" pitchFamily="2" charset="0"/>
              </a:rPr>
              <a:t>Evaluación de resultados: Patrones visuales consistentes y relevantes</a:t>
            </a:r>
          </a:p>
          <a:p>
            <a:pPr marL="215379" rtl="0" fontAlgn="base">
              <a:spcBef>
                <a:spcPts val="0"/>
              </a:spcBef>
              <a:spcAft>
                <a:spcPts val="0"/>
              </a:spcAft>
              <a:buFont typeface="+mj-lt"/>
              <a:buAutoNum type="arabicPeriod"/>
            </a:pPr>
            <a:r>
              <a:rPr lang="es-419" sz="1800" b="0" i="0" u="none" strike="noStrike" dirty="0">
                <a:solidFill>
                  <a:schemeClr val="tx1"/>
                </a:solidFill>
                <a:effectLst/>
                <a:latin typeface="Poppins" panose="00000500000000000000" pitchFamily="2" charset="0"/>
              </a:rPr>
              <a:t>Despliegue: Creación de Dashboard interactivo</a:t>
            </a:r>
          </a:p>
          <a:p>
            <a:endParaRPr lang="es-419" dirty="0"/>
          </a:p>
        </p:txBody>
      </p:sp>
    </p:spTree>
    <p:extLst>
      <p:ext uri="{BB962C8B-B14F-4D97-AF65-F5344CB8AC3E}">
        <p14:creationId xmlns:p14="http://schemas.microsoft.com/office/powerpoint/2010/main" val="22987857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08B9E5-CE56-66D1-56FC-318866BED9E3}"/>
              </a:ext>
            </a:extLst>
          </p:cNvPr>
          <p:cNvSpPr>
            <a:spLocks noGrp="1"/>
          </p:cNvSpPr>
          <p:nvPr>
            <p:ph type="title"/>
          </p:nvPr>
        </p:nvSpPr>
        <p:spPr>
          <a:xfrm>
            <a:off x="2695601" y="0"/>
            <a:ext cx="9023959" cy="689952"/>
          </a:xfrm>
        </p:spPr>
        <p:txBody>
          <a:bodyPr>
            <a:normAutofit fontScale="90000"/>
          </a:bodyPr>
          <a:lstStyle/>
          <a:p>
            <a:r>
              <a:rPr lang="es-CO" dirty="0"/>
              <a:t>Metodología CRISP-DM</a:t>
            </a:r>
          </a:p>
        </p:txBody>
      </p:sp>
      <p:sp>
        <p:nvSpPr>
          <p:cNvPr id="3" name="Marcador de contenido 2">
            <a:extLst>
              <a:ext uri="{FF2B5EF4-FFF2-40B4-BE49-F238E27FC236}">
                <a16:creationId xmlns:a16="http://schemas.microsoft.com/office/drawing/2014/main" id="{6A552C21-906B-63DB-B510-A1FAC4A393C6}"/>
              </a:ext>
            </a:extLst>
          </p:cNvPr>
          <p:cNvSpPr>
            <a:spLocks noGrp="1"/>
          </p:cNvSpPr>
          <p:nvPr>
            <p:ph idx="1"/>
          </p:nvPr>
        </p:nvSpPr>
        <p:spPr>
          <a:xfrm>
            <a:off x="6226358" y="1223137"/>
            <a:ext cx="4901186" cy="3873717"/>
          </a:xfrm>
        </p:spPr>
        <p:txBody>
          <a:bodyPr>
            <a:normAutofit fontScale="92500" lnSpcReduction="10000"/>
          </a:bodyPr>
          <a:lstStyle/>
          <a:p>
            <a:pPr algn="just"/>
            <a:r>
              <a:rPr lang="es-MX" b="1" dirty="0"/>
              <a:t>La metodología CRISP-DM (Proceso Estándar de la Industria Cruce para la Minería de Datos) es una norma estándar para la ejecución de proyectos de minería de datos, frecuentemente empleada en el sector por su enfoque estructurado, adaptable a diferentes situaciones.</a:t>
            </a:r>
            <a:endParaRPr lang="es-CO" b="1" dirty="0"/>
          </a:p>
        </p:txBody>
      </p:sp>
      <p:pic>
        <p:nvPicPr>
          <p:cNvPr id="1026" name="Picture 2" descr="Metodología CRISP-DM - Adictos al trabajo Tutoriales">
            <a:extLst>
              <a:ext uri="{FF2B5EF4-FFF2-40B4-BE49-F238E27FC236}">
                <a16:creationId xmlns:a16="http://schemas.microsoft.com/office/drawing/2014/main" id="{056DAB9E-DB6D-E667-9317-166E18DE5F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328" y="1788160"/>
            <a:ext cx="5909672" cy="3641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9106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5B81CC-5E6A-86AA-C2FB-A50763F4E6F4}"/>
              </a:ext>
            </a:extLst>
          </p:cNvPr>
          <p:cNvSpPr>
            <a:spLocks noGrp="1"/>
          </p:cNvSpPr>
          <p:nvPr>
            <p:ph type="title"/>
          </p:nvPr>
        </p:nvSpPr>
        <p:spPr/>
        <p:txBody>
          <a:bodyPr>
            <a:normAutofit/>
          </a:bodyPr>
          <a:lstStyle/>
          <a:p>
            <a:r>
              <a:rPr lang="es-419" sz="4000" b="0" i="0" u="none" strike="noStrike" dirty="0">
                <a:solidFill>
                  <a:schemeClr val="accent6">
                    <a:lumMod val="75000"/>
                  </a:schemeClr>
                </a:solidFill>
                <a:effectLst/>
                <a:latin typeface="Anton" pitchFamily="2" charset="0"/>
              </a:rPr>
              <a:t>CONTEXTUALIZACIÓN</a:t>
            </a:r>
            <a:endParaRPr lang="es-419" sz="4000" dirty="0">
              <a:solidFill>
                <a:schemeClr val="accent6">
                  <a:lumMod val="75000"/>
                </a:schemeClr>
              </a:solidFill>
            </a:endParaRPr>
          </a:p>
        </p:txBody>
      </p:sp>
      <p:sp>
        <p:nvSpPr>
          <p:cNvPr id="3" name="Marcador de contenido 2">
            <a:extLst>
              <a:ext uri="{FF2B5EF4-FFF2-40B4-BE49-F238E27FC236}">
                <a16:creationId xmlns:a16="http://schemas.microsoft.com/office/drawing/2014/main" id="{5AF3024C-03D5-26B3-C877-B09D907FBDFA}"/>
              </a:ext>
            </a:extLst>
          </p:cNvPr>
          <p:cNvSpPr>
            <a:spLocks noGrp="1"/>
          </p:cNvSpPr>
          <p:nvPr>
            <p:ph idx="1"/>
          </p:nvPr>
        </p:nvSpPr>
        <p:spPr/>
        <p:txBody>
          <a:bodyPr/>
          <a:lstStyle/>
          <a:p>
            <a:pPr marL="163944" rtl="0" fontAlgn="base">
              <a:spcBef>
                <a:spcPts val="0"/>
              </a:spcBef>
              <a:spcAft>
                <a:spcPts val="0"/>
              </a:spcAft>
              <a:buFont typeface="Arial" panose="020B0604020202020204" pitchFamily="34" charset="0"/>
              <a:buChar char="•"/>
            </a:pPr>
            <a:r>
              <a:rPr lang="es-419" sz="2400" b="0" i="0" u="none" strike="noStrike" dirty="0">
                <a:solidFill>
                  <a:srgbClr val="000000"/>
                </a:solidFill>
                <a:effectLst/>
                <a:latin typeface="Poppins" panose="00000500000000000000" pitchFamily="2" charset="0"/>
              </a:rPr>
              <a:t>Los ACV son una de las principales causas de discapacidad y muerte a nivel mundial</a:t>
            </a:r>
            <a:endParaRPr lang="es-419" sz="2400" b="0" i="0" u="none" strike="noStrike" dirty="0">
              <a:solidFill>
                <a:srgbClr val="000000"/>
              </a:solidFill>
              <a:effectLst/>
              <a:latin typeface="Arial" panose="020B0604020202020204" pitchFamily="34" charset="0"/>
            </a:endParaRPr>
          </a:p>
          <a:p>
            <a:pPr marL="163944" rtl="0" fontAlgn="base">
              <a:spcBef>
                <a:spcPts val="0"/>
              </a:spcBef>
              <a:spcAft>
                <a:spcPts val="0"/>
              </a:spcAft>
              <a:buFont typeface="Arial" panose="020B0604020202020204" pitchFamily="34" charset="0"/>
              <a:buChar char="•"/>
            </a:pPr>
            <a:r>
              <a:rPr lang="es-419" sz="2400" b="0" i="0" u="none" strike="noStrike" dirty="0">
                <a:solidFill>
                  <a:srgbClr val="000000"/>
                </a:solidFill>
                <a:effectLst/>
                <a:latin typeface="Poppins" panose="00000500000000000000" pitchFamily="2" charset="0"/>
              </a:rPr>
              <a:t>El análisis de datos clínicos permite detectar patrones asociados a esta enfermedad</a:t>
            </a:r>
            <a:endParaRPr lang="es-419" sz="2400" b="0" i="0" u="none" strike="noStrike" dirty="0">
              <a:solidFill>
                <a:srgbClr val="000000"/>
              </a:solidFill>
              <a:effectLst/>
              <a:latin typeface="Arial" panose="020B0604020202020204" pitchFamily="34" charset="0"/>
            </a:endParaRPr>
          </a:p>
          <a:p>
            <a:pPr marL="163944" rtl="0" fontAlgn="base">
              <a:spcBef>
                <a:spcPts val="0"/>
              </a:spcBef>
              <a:spcAft>
                <a:spcPts val="0"/>
              </a:spcAft>
              <a:buFont typeface="Arial" panose="020B0604020202020204" pitchFamily="34" charset="0"/>
              <a:buChar char="•"/>
            </a:pPr>
            <a:r>
              <a:rPr lang="es-419" sz="2400" b="0" i="0" u="none" strike="noStrike" dirty="0">
                <a:solidFill>
                  <a:srgbClr val="000000"/>
                </a:solidFill>
                <a:effectLst/>
                <a:latin typeface="Poppins" panose="00000500000000000000" pitchFamily="2" charset="0"/>
              </a:rPr>
              <a:t>Este proyecto se aplica en la ciencia de datos con un enfoque explicativo</a:t>
            </a:r>
            <a:endParaRPr lang="es-419" sz="2400" b="0" i="0" u="none" strike="noStrike" dirty="0">
              <a:solidFill>
                <a:srgbClr val="000000"/>
              </a:solidFill>
              <a:effectLst/>
              <a:latin typeface="Arial" panose="020B0604020202020204" pitchFamily="34" charset="0"/>
            </a:endParaRPr>
          </a:p>
          <a:p>
            <a:pPr marL="163944" rtl="0" fontAlgn="base">
              <a:spcBef>
                <a:spcPts val="0"/>
              </a:spcBef>
              <a:spcAft>
                <a:spcPts val="0"/>
              </a:spcAft>
              <a:buFont typeface="Arial" panose="020B0604020202020204" pitchFamily="34" charset="0"/>
              <a:buChar char="•"/>
            </a:pPr>
            <a:r>
              <a:rPr lang="es-419" sz="2400" b="0" i="0" u="none" strike="noStrike" dirty="0">
                <a:solidFill>
                  <a:srgbClr val="000000"/>
                </a:solidFill>
                <a:effectLst/>
                <a:latin typeface="Poppins" panose="00000500000000000000" pitchFamily="2" charset="0"/>
              </a:rPr>
              <a:t>Se analiza una base de datos clínica de pacientes</a:t>
            </a:r>
          </a:p>
          <a:p>
            <a:pPr marL="163944" rtl="0" fontAlgn="base">
              <a:spcBef>
                <a:spcPts val="0"/>
              </a:spcBef>
              <a:spcAft>
                <a:spcPts val="0"/>
              </a:spcAft>
              <a:buFont typeface="Arial" panose="020B0604020202020204" pitchFamily="34" charset="0"/>
              <a:buChar char="•"/>
            </a:pPr>
            <a:r>
              <a:rPr lang="es-419" sz="2400" b="0" i="0" u="none" strike="noStrike" dirty="0">
                <a:solidFill>
                  <a:srgbClr val="000000"/>
                </a:solidFill>
                <a:effectLst/>
                <a:latin typeface="Poppins" panose="00000500000000000000" pitchFamily="2" charset="0"/>
              </a:rPr>
              <a:t>Se busca identificar que población es más propensa a sufrir un ACV</a:t>
            </a:r>
            <a:endParaRPr lang="es-419" sz="2400" b="0" i="0" u="none" strike="noStrike" dirty="0">
              <a:solidFill>
                <a:srgbClr val="000000"/>
              </a:solidFill>
              <a:effectLst/>
              <a:latin typeface="Arial" panose="020B0604020202020204" pitchFamily="34" charset="0"/>
            </a:endParaRPr>
          </a:p>
          <a:p>
            <a:endParaRPr lang="es-419" dirty="0"/>
          </a:p>
        </p:txBody>
      </p:sp>
    </p:spTree>
    <p:extLst>
      <p:ext uri="{BB962C8B-B14F-4D97-AF65-F5344CB8AC3E}">
        <p14:creationId xmlns:p14="http://schemas.microsoft.com/office/powerpoint/2010/main" val="2787094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63A10E-1251-0D91-D2C2-372F572AEAFD}"/>
              </a:ext>
            </a:extLst>
          </p:cNvPr>
          <p:cNvSpPr>
            <a:spLocks noGrp="1"/>
          </p:cNvSpPr>
          <p:nvPr>
            <p:ph type="title"/>
          </p:nvPr>
        </p:nvSpPr>
        <p:spPr>
          <a:xfrm>
            <a:off x="2210460" y="182880"/>
            <a:ext cx="9023959" cy="880637"/>
          </a:xfrm>
        </p:spPr>
        <p:txBody>
          <a:bodyPr/>
          <a:lstStyle/>
          <a:p>
            <a:r>
              <a:rPr lang="es-CO" dirty="0"/>
              <a:t>Planteamiento del Problema</a:t>
            </a:r>
          </a:p>
        </p:txBody>
      </p:sp>
      <p:sp>
        <p:nvSpPr>
          <p:cNvPr id="3" name="Marcador de contenido 2">
            <a:extLst>
              <a:ext uri="{FF2B5EF4-FFF2-40B4-BE49-F238E27FC236}">
                <a16:creationId xmlns:a16="http://schemas.microsoft.com/office/drawing/2014/main" id="{82FEF57D-C8D3-CAC9-E7F8-850B62BFD09E}"/>
              </a:ext>
            </a:extLst>
          </p:cNvPr>
          <p:cNvSpPr>
            <a:spLocks noGrp="1"/>
          </p:cNvSpPr>
          <p:nvPr>
            <p:ph idx="1"/>
          </p:nvPr>
        </p:nvSpPr>
        <p:spPr>
          <a:xfrm>
            <a:off x="1483360" y="1358939"/>
            <a:ext cx="6492240" cy="4086821"/>
          </a:xfrm>
        </p:spPr>
        <p:txBody>
          <a:bodyPr>
            <a:noAutofit/>
          </a:bodyPr>
          <a:lstStyle/>
          <a:p>
            <a:pPr marL="0" indent="0">
              <a:buNone/>
            </a:pPr>
            <a:r>
              <a:rPr lang="es-419" sz="1800" dirty="0"/>
              <a:t>El Accidente Cerebrovascular (ACV) está asociado a múltiples factores de riesgo, como la hipertensión, la diabetes, el tabaquismo y otros hábitos o condiciones de salud. Aunque estos factores son conocidos, no siempre es fácil identificar qué grupos de la población son los más vulnerables o cómo se combinan estos riesgos</a:t>
            </a:r>
          </a:p>
          <a:p>
            <a:pPr marL="0" indent="0">
              <a:buNone/>
            </a:pPr>
            <a:r>
              <a:rPr lang="es-419" sz="1800" dirty="0"/>
              <a:t>Por eso, se necesita un análisis que permita </a:t>
            </a:r>
            <a:r>
              <a:rPr lang="es-419" sz="1800" b="1" dirty="0"/>
              <a:t>visualizar y comprender</a:t>
            </a:r>
            <a:r>
              <a:rPr lang="es-419" sz="1800" dirty="0"/>
              <a:t> cómo se distribuyen estos factores en la población</a:t>
            </a:r>
          </a:p>
          <a:p>
            <a:pPr marL="0" indent="0">
              <a:buNone/>
            </a:pPr>
            <a:r>
              <a:rPr lang="es-419" sz="1800" dirty="0"/>
              <a:t>Este proyecto se centra en realizar un análisis </a:t>
            </a:r>
            <a:r>
              <a:rPr lang="es-419" sz="1800" b="1" dirty="0"/>
              <a:t>descriptivo y visual</a:t>
            </a:r>
            <a:r>
              <a:rPr lang="es-419" sz="1800" dirty="0"/>
              <a:t>, con el objetivo de identificar patrones y explicar la propensión al ACV</a:t>
            </a:r>
            <a:br>
              <a:rPr lang="es-419" sz="1800" dirty="0"/>
            </a:br>
            <a:r>
              <a:rPr lang="es-419" sz="1800" dirty="0"/>
              <a:t>Es importante destacar que </a:t>
            </a:r>
            <a:r>
              <a:rPr lang="es-419" sz="1800" b="1" dirty="0"/>
              <a:t>no se busca entrenar un modelo predictivo</a:t>
            </a:r>
            <a:r>
              <a:rPr lang="es-419" sz="1800" dirty="0"/>
              <a:t>, sino ofrecer una comprensión clara y accesible de los datos para apoyar la prevención.</a:t>
            </a:r>
          </a:p>
        </p:txBody>
      </p:sp>
      <p:pic>
        <p:nvPicPr>
          <p:cNvPr id="5" name="Imagen 4">
            <a:extLst>
              <a:ext uri="{FF2B5EF4-FFF2-40B4-BE49-F238E27FC236}">
                <a16:creationId xmlns:a16="http://schemas.microsoft.com/office/drawing/2014/main" id="{3916CB32-2515-600D-B315-5ED1E08A8059}"/>
              </a:ext>
            </a:extLst>
          </p:cNvPr>
          <p:cNvPicPr>
            <a:picLocks noChangeAspect="1"/>
          </p:cNvPicPr>
          <p:nvPr/>
        </p:nvPicPr>
        <p:blipFill>
          <a:blip r:embed="rId2"/>
          <a:stretch>
            <a:fillRect/>
          </a:stretch>
        </p:blipFill>
        <p:spPr>
          <a:xfrm>
            <a:off x="7975600" y="1351280"/>
            <a:ext cx="4094480" cy="4094480"/>
          </a:xfrm>
          <a:prstGeom prst="rect">
            <a:avLst/>
          </a:prstGeom>
        </p:spPr>
      </p:pic>
    </p:spTree>
    <p:extLst>
      <p:ext uri="{BB962C8B-B14F-4D97-AF65-F5344CB8AC3E}">
        <p14:creationId xmlns:p14="http://schemas.microsoft.com/office/powerpoint/2010/main" val="3230735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36BCA5-3964-3424-ABE0-BCE5045BBE44}"/>
              </a:ext>
            </a:extLst>
          </p:cNvPr>
          <p:cNvSpPr>
            <a:spLocks noGrp="1"/>
          </p:cNvSpPr>
          <p:nvPr>
            <p:ph type="title"/>
          </p:nvPr>
        </p:nvSpPr>
        <p:spPr>
          <a:xfrm>
            <a:off x="2059841" y="570772"/>
            <a:ext cx="2686570" cy="503555"/>
          </a:xfrm>
        </p:spPr>
        <p:txBody>
          <a:bodyPr>
            <a:normAutofit fontScale="90000"/>
          </a:bodyPr>
          <a:lstStyle/>
          <a:p>
            <a:r>
              <a:rPr lang="es-CO" dirty="0"/>
              <a:t>Objetivos</a:t>
            </a:r>
          </a:p>
        </p:txBody>
      </p:sp>
      <p:sp>
        <p:nvSpPr>
          <p:cNvPr id="3" name="Marcador de contenido 2">
            <a:extLst>
              <a:ext uri="{FF2B5EF4-FFF2-40B4-BE49-F238E27FC236}">
                <a16:creationId xmlns:a16="http://schemas.microsoft.com/office/drawing/2014/main" id="{21877DC4-F9EF-3285-6376-41B09092D020}"/>
              </a:ext>
            </a:extLst>
          </p:cNvPr>
          <p:cNvSpPr>
            <a:spLocks noGrp="1"/>
          </p:cNvSpPr>
          <p:nvPr>
            <p:ph sz="half" idx="1"/>
          </p:nvPr>
        </p:nvSpPr>
        <p:spPr>
          <a:xfrm>
            <a:off x="1568883" y="1548299"/>
            <a:ext cx="4222315" cy="4351338"/>
          </a:xfrm>
        </p:spPr>
        <p:txBody>
          <a:bodyPr>
            <a:normAutofit/>
          </a:bodyPr>
          <a:lstStyle/>
          <a:p>
            <a:r>
              <a:rPr lang="es-CO" b="1" dirty="0">
                <a:solidFill>
                  <a:srgbClr val="00482B"/>
                </a:solidFill>
              </a:rPr>
              <a:t>Objetivo General</a:t>
            </a:r>
          </a:p>
          <a:p>
            <a:pPr marL="0" indent="0">
              <a:buNone/>
            </a:pPr>
            <a:r>
              <a:rPr lang="es-419" sz="1800" b="0" i="0" u="none" strike="noStrike" dirty="0">
                <a:solidFill>
                  <a:srgbClr val="000000"/>
                </a:solidFill>
                <a:effectLst/>
                <a:latin typeface="Poppins" panose="00000500000000000000" pitchFamily="2" charset="0"/>
              </a:rPr>
              <a:t>Aplicar un modelo machine learning sobre datos clínicos, con el fin de identificar qué población es más propensa a sufrir ataques cerebrovasculares.</a:t>
            </a:r>
            <a:endParaRPr lang="es-CO" b="1" dirty="0">
              <a:solidFill>
                <a:srgbClr val="00482B"/>
              </a:solidFill>
            </a:endParaRPr>
          </a:p>
        </p:txBody>
      </p:sp>
      <p:sp>
        <p:nvSpPr>
          <p:cNvPr id="4" name="Marcador de contenido 3">
            <a:extLst>
              <a:ext uri="{FF2B5EF4-FFF2-40B4-BE49-F238E27FC236}">
                <a16:creationId xmlns:a16="http://schemas.microsoft.com/office/drawing/2014/main" id="{A50DABAA-AF62-68E9-83EE-91A3EFB97DDE}"/>
              </a:ext>
            </a:extLst>
          </p:cNvPr>
          <p:cNvSpPr>
            <a:spLocks noGrp="1"/>
          </p:cNvSpPr>
          <p:nvPr>
            <p:ph sz="half" idx="2"/>
          </p:nvPr>
        </p:nvSpPr>
        <p:spPr>
          <a:xfrm>
            <a:off x="6400803" y="1376371"/>
            <a:ext cx="5181600" cy="4351338"/>
          </a:xfrm>
        </p:spPr>
        <p:txBody>
          <a:bodyPr>
            <a:normAutofit/>
          </a:bodyPr>
          <a:lstStyle/>
          <a:p>
            <a:r>
              <a:rPr lang="es-CO" b="1" dirty="0">
                <a:solidFill>
                  <a:srgbClr val="00482B"/>
                </a:solidFill>
              </a:rPr>
              <a:t>Objetivos Específicos</a:t>
            </a:r>
          </a:p>
          <a:p>
            <a:pPr marL="0" indent="0">
              <a:buNone/>
            </a:pPr>
            <a:endParaRPr lang="es-CO" b="1" dirty="0">
              <a:solidFill>
                <a:srgbClr val="00482B"/>
              </a:solidFill>
            </a:endParaRPr>
          </a:p>
          <a:p>
            <a:pPr marL="0" indent="0" rtl="0" fontAlgn="base">
              <a:spcBef>
                <a:spcPts val="0"/>
              </a:spcBef>
              <a:spcAft>
                <a:spcPts val="0"/>
              </a:spcAft>
              <a:buNone/>
            </a:pPr>
            <a:r>
              <a:rPr lang="es-419" sz="1800" b="0" i="0" u="none" strike="noStrike" dirty="0">
                <a:solidFill>
                  <a:srgbClr val="000000"/>
                </a:solidFill>
                <a:effectLst/>
                <a:latin typeface="Poppins" panose="00000500000000000000" pitchFamily="2" charset="0"/>
              </a:rPr>
              <a:t>Analizar las variables más influyentes en la aparición de ataques cerebrovasculares, para entender qué factores de salud tienen mayor impacto en la población.</a:t>
            </a:r>
            <a:endParaRPr lang="es-419" sz="1800" b="0" i="0" u="none" strike="noStrike" dirty="0">
              <a:solidFill>
                <a:srgbClr val="000000"/>
              </a:solidFill>
              <a:effectLst/>
              <a:latin typeface="Arial" panose="020B0604020202020204" pitchFamily="34" charset="0"/>
            </a:endParaRPr>
          </a:p>
          <a:p>
            <a:pPr marL="0" indent="0" rtl="0" fontAlgn="base">
              <a:spcBef>
                <a:spcPts val="0"/>
              </a:spcBef>
              <a:spcAft>
                <a:spcPts val="0"/>
              </a:spcAft>
              <a:buNone/>
            </a:pPr>
            <a:br>
              <a:rPr lang="es-419" sz="3200" b="0" dirty="0">
                <a:effectLst/>
              </a:rPr>
            </a:br>
            <a:r>
              <a:rPr lang="es-419" sz="1800" b="0" i="0" u="none" strike="noStrike" dirty="0">
                <a:solidFill>
                  <a:srgbClr val="000000"/>
                </a:solidFill>
                <a:effectLst/>
                <a:latin typeface="Poppins" panose="00000500000000000000" pitchFamily="2" charset="0"/>
              </a:rPr>
              <a:t>Entrenar un modelo de machine learning para predecir el riesgo de ACV con el fin de identificar cuál población es más propensa a sufrir un ataque cardiovascular.</a:t>
            </a:r>
            <a:endParaRPr lang="es-419" sz="1800" b="0" i="0" u="none" strike="noStrike" dirty="0">
              <a:solidFill>
                <a:srgbClr val="000000"/>
              </a:solidFill>
              <a:effectLst/>
              <a:latin typeface="Arial" panose="020B0604020202020204" pitchFamily="34" charset="0"/>
            </a:endParaRPr>
          </a:p>
          <a:p>
            <a:pPr marL="0" indent="0" rtl="0" fontAlgn="base">
              <a:spcBef>
                <a:spcPts val="0"/>
              </a:spcBef>
              <a:spcAft>
                <a:spcPts val="0"/>
              </a:spcAft>
              <a:buNone/>
            </a:pPr>
            <a:br>
              <a:rPr lang="es-419" sz="3200" b="0" dirty="0">
                <a:effectLst/>
              </a:rPr>
            </a:br>
            <a:r>
              <a:rPr lang="es-419" sz="1800" b="0" i="0" u="none" strike="noStrike" dirty="0">
                <a:solidFill>
                  <a:srgbClr val="000000"/>
                </a:solidFill>
                <a:effectLst/>
                <a:latin typeface="Poppins" panose="00000500000000000000" pitchFamily="2" charset="0"/>
              </a:rPr>
              <a:t>Construir un Dashboard con las métricas más relevantes </a:t>
            </a:r>
            <a:endParaRPr lang="es-419" sz="1800" b="0" i="0" u="none" strike="noStrike" dirty="0">
              <a:solidFill>
                <a:srgbClr val="000000"/>
              </a:solidFill>
              <a:effectLst/>
              <a:latin typeface="Arial" panose="020B0604020202020204" pitchFamily="34" charset="0"/>
            </a:endParaRPr>
          </a:p>
          <a:p>
            <a:pPr marL="0" indent="0">
              <a:buNone/>
            </a:pPr>
            <a:endParaRPr lang="es-CO" sz="4400" b="1" dirty="0">
              <a:solidFill>
                <a:srgbClr val="00482B"/>
              </a:solidFill>
            </a:endParaRPr>
          </a:p>
        </p:txBody>
      </p:sp>
    </p:spTree>
    <p:extLst>
      <p:ext uri="{BB962C8B-B14F-4D97-AF65-F5344CB8AC3E}">
        <p14:creationId xmlns:p14="http://schemas.microsoft.com/office/powerpoint/2010/main" val="1413098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E2DC99-AEC0-A4B0-B6E1-E6285AFC70F9}"/>
              </a:ext>
            </a:extLst>
          </p:cNvPr>
          <p:cNvSpPr>
            <a:spLocks noGrp="1"/>
          </p:cNvSpPr>
          <p:nvPr>
            <p:ph type="title"/>
          </p:nvPr>
        </p:nvSpPr>
        <p:spPr/>
        <p:txBody>
          <a:bodyPr/>
          <a:lstStyle/>
          <a:p>
            <a:r>
              <a:rPr lang="es-CO" dirty="0"/>
              <a:t>Análisis Encontrados</a:t>
            </a:r>
            <a:endParaRPr lang="es-419" dirty="0"/>
          </a:p>
        </p:txBody>
      </p:sp>
      <p:sp>
        <p:nvSpPr>
          <p:cNvPr id="3" name="Marcador de texto 2">
            <a:extLst>
              <a:ext uri="{FF2B5EF4-FFF2-40B4-BE49-F238E27FC236}">
                <a16:creationId xmlns:a16="http://schemas.microsoft.com/office/drawing/2014/main" id="{FE436444-6F34-9177-E4D3-5317452A5A28}"/>
              </a:ext>
            </a:extLst>
          </p:cNvPr>
          <p:cNvSpPr>
            <a:spLocks noGrp="1"/>
          </p:cNvSpPr>
          <p:nvPr>
            <p:ph type="body" idx="1"/>
          </p:nvPr>
        </p:nvSpPr>
        <p:spPr/>
        <p:txBody>
          <a:bodyPr/>
          <a:lstStyle/>
          <a:p>
            <a:r>
              <a:rPr lang="es-CO" dirty="0">
                <a:solidFill>
                  <a:schemeClr val="accent6">
                    <a:lumMod val="75000"/>
                  </a:schemeClr>
                </a:solidFill>
              </a:rPr>
              <a:t>Análisis Univariado</a:t>
            </a:r>
            <a:endParaRPr lang="es-419" dirty="0">
              <a:solidFill>
                <a:schemeClr val="accent6">
                  <a:lumMod val="75000"/>
                </a:schemeClr>
              </a:solidFill>
            </a:endParaRPr>
          </a:p>
        </p:txBody>
      </p:sp>
      <p:sp>
        <p:nvSpPr>
          <p:cNvPr id="4" name="Marcador de contenido 3">
            <a:extLst>
              <a:ext uri="{FF2B5EF4-FFF2-40B4-BE49-F238E27FC236}">
                <a16:creationId xmlns:a16="http://schemas.microsoft.com/office/drawing/2014/main" id="{AED96823-8C0E-BAF7-B933-0D12527D63C3}"/>
              </a:ext>
            </a:extLst>
          </p:cNvPr>
          <p:cNvSpPr>
            <a:spLocks noGrp="1"/>
          </p:cNvSpPr>
          <p:nvPr>
            <p:ph sz="half" idx="2"/>
          </p:nvPr>
        </p:nvSpPr>
        <p:spPr/>
        <p:txBody>
          <a:bodyPr/>
          <a:lstStyle/>
          <a:p>
            <a:pPr marL="163944" rtl="0" fontAlgn="base">
              <a:spcBef>
                <a:spcPts val="0"/>
              </a:spcBef>
              <a:spcAft>
                <a:spcPts val="0"/>
              </a:spcAft>
              <a:buFont typeface="Arial" panose="020B0604020202020204" pitchFamily="34" charset="0"/>
              <a:buChar char="•"/>
            </a:pPr>
            <a:r>
              <a:rPr lang="es-419" sz="1800" b="0" i="0" u="none" strike="noStrike" dirty="0">
                <a:solidFill>
                  <a:srgbClr val="000000"/>
                </a:solidFill>
                <a:effectLst/>
                <a:latin typeface="Poppins" panose="00000500000000000000" pitchFamily="2" charset="0"/>
              </a:rPr>
              <a:t>Mayor proporción de ACV en personas mayores a 60 años.</a:t>
            </a:r>
            <a:endParaRPr lang="es-419" sz="1800" b="0" i="0" u="none" strike="noStrike" dirty="0">
              <a:solidFill>
                <a:srgbClr val="000000"/>
              </a:solidFill>
              <a:effectLst/>
              <a:latin typeface="Arial" panose="020B0604020202020204" pitchFamily="34" charset="0"/>
            </a:endParaRPr>
          </a:p>
          <a:p>
            <a:pPr marL="163944" rtl="0" fontAlgn="base">
              <a:spcBef>
                <a:spcPts val="0"/>
              </a:spcBef>
              <a:spcAft>
                <a:spcPts val="0"/>
              </a:spcAft>
              <a:buFont typeface="Arial" panose="020B0604020202020204" pitchFamily="34" charset="0"/>
              <a:buChar char="•"/>
            </a:pPr>
            <a:r>
              <a:rPr lang="es-419" sz="1800" b="0" i="0" u="none" strike="noStrike" dirty="0">
                <a:solidFill>
                  <a:srgbClr val="000000"/>
                </a:solidFill>
                <a:effectLst/>
                <a:latin typeface="Poppins" panose="00000500000000000000" pitchFamily="2" charset="0"/>
              </a:rPr>
              <a:t>Hipertensión y enfermedades cardíacas presentes en la mayoría de los casos con ACV.</a:t>
            </a:r>
            <a:endParaRPr lang="es-419" sz="1800" b="0" i="0" u="none" strike="noStrike" dirty="0">
              <a:solidFill>
                <a:srgbClr val="000000"/>
              </a:solidFill>
              <a:effectLst/>
              <a:latin typeface="Arial" panose="020B0604020202020204" pitchFamily="34" charset="0"/>
            </a:endParaRPr>
          </a:p>
          <a:p>
            <a:pPr marL="163944" rtl="0" fontAlgn="base">
              <a:spcBef>
                <a:spcPts val="0"/>
              </a:spcBef>
              <a:spcAft>
                <a:spcPts val="0"/>
              </a:spcAft>
              <a:buFont typeface="Arial" panose="020B0604020202020204" pitchFamily="34" charset="0"/>
              <a:buChar char="•"/>
            </a:pPr>
            <a:r>
              <a:rPr lang="es-419" sz="1800" b="0" i="0" u="none" strike="noStrike" dirty="0">
                <a:solidFill>
                  <a:srgbClr val="000000"/>
                </a:solidFill>
                <a:effectLst/>
                <a:latin typeface="Poppins" panose="00000500000000000000" pitchFamily="2" charset="0"/>
              </a:rPr>
              <a:t>IMC promedio elevado en pacientes con ACV (obesidad).</a:t>
            </a:r>
            <a:endParaRPr lang="es-419" sz="1800" b="0" i="0" u="none" strike="noStrike" dirty="0">
              <a:solidFill>
                <a:srgbClr val="000000"/>
              </a:solidFill>
              <a:effectLst/>
              <a:latin typeface="Arial" panose="020B0604020202020204" pitchFamily="34" charset="0"/>
            </a:endParaRPr>
          </a:p>
          <a:p>
            <a:pPr marL="163944" rtl="0" fontAlgn="base">
              <a:spcBef>
                <a:spcPts val="0"/>
              </a:spcBef>
              <a:spcAft>
                <a:spcPts val="0"/>
              </a:spcAft>
              <a:buFont typeface="Arial" panose="020B0604020202020204" pitchFamily="34" charset="0"/>
              <a:buChar char="•"/>
            </a:pPr>
            <a:r>
              <a:rPr lang="es-419" sz="1800" b="0" i="0" u="none" strike="noStrike" dirty="0">
                <a:solidFill>
                  <a:srgbClr val="000000"/>
                </a:solidFill>
                <a:effectLst/>
                <a:latin typeface="Poppins" panose="00000500000000000000" pitchFamily="2" charset="0"/>
              </a:rPr>
              <a:t>Glucosa elevada.</a:t>
            </a:r>
            <a:endParaRPr lang="es-419" sz="1800" b="0" i="0" u="none" strike="noStrike" dirty="0">
              <a:solidFill>
                <a:srgbClr val="000000"/>
              </a:solidFill>
              <a:effectLst/>
              <a:latin typeface="Arial" panose="020B0604020202020204" pitchFamily="34" charset="0"/>
            </a:endParaRPr>
          </a:p>
          <a:p>
            <a:pPr marL="163944" rtl="0" fontAlgn="base">
              <a:spcBef>
                <a:spcPts val="0"/>
              </a:spcBef>
              <a:spcAft>
                <a:spcPts val="0"/>
              </a:spcAft>
              <a:buFont typeface="Arial" panose="020B0604020202020204" pitchFamily="34" charset="0"/>
              <a:buChar char="•"/>
            </a:pPr>
            <a:r>
              <a:rPr lang="es-419" sz="1800" b="0" i="0" u="none" strike="noStrike" dirty="0">
                <a:solidFill>
                  <a:srgbClr val="000000"/>
                </a:solidFill>
                <a:effectLst/>
                <a:latin typeface="Poppins" panose="00000500000000000000" pitchFamily="2" charset="0"/>
              </a:rPr>
              <a:t>Fumadores actuales y exfumadores con mayor incidencia de ACV.</a:t>
            </a:r>
            <a:endParaRPr lang="es-419" sz="1800" b="0" i="0" u="none" strike="noStrike" dirty="0">
              <a:solidFill>
                <a:srgbClr val="000000"/>
              </a:solidFill>
              <a:effectLst/>
              <a:latin typeface="Arial" panose="020B0604020202020204" pitchFamily="34" charset="0"/>
            </a:endParaRPr>
          </a:p>
          <a:p>
            <a:pPr marL="0" indent="0">
              <a:buNone/>
            </a:pPr>
            <a:endParaRPr lang="es-419" dirty="0"/>
          </a:p>
        </p:txBody>
      </p:sp>
      <p:sp>
        <p:nvSpPr>
          <p:cNvPr id="5" name="Marcador de texto 4">
            <a:extLst>
              <a:ext uri="{FF2B5EF4-FFF2-40B4-BE49-F238E27FC236}">
                <a16:creationId xmlns:a16="http://schemas.microsoft.com/office/drawing/2014/main" id="{37902C48-5322-DB27-1FB6-BE954BF54785}"/>
              </a:ext>
            </a:extLst>
          </p:cNvPr>
          <p:cNvSpPr>
            <a:spLocks noGrp="1"/>
          </p:cNvSpPr>
          <p:nvPr>
            <p:ph type="body" sz="quarter" idx="3"/>
          </p:nvPr>
        </p:nvSpPr>
        <p:spPr/>
        <p:txBody>
          <a:bodyPr/>
          <a:lstStyle/>
          <a:p>
            <a:r>
              <a:rPr lang="es-CO" dirty="0">
                <a:solidFill>
                  <a:schemeClr val="accent6">
                    <a:lumMod val="75000"/>
                  </a:schemeClr>
                </a:solidFill>
              </a:rPr>
              <a:t>Análisis Bivariado</a:t>
            </a:r>
            <a:endParaRPr lang="es-419" dirty="0">
              <a:solidFill>
                <a:schemeClr val="accent6">
                  <a:lumMod val="75000"/>
                </a:schemeClr>
              </a:solidFill>
            </a:endParaRPr>
          </a:p>
        </p:txBody>
      </p:sp>
      <p:sp>
        <p:nvSpPr>
          <p:cNvPr id="6" name="Marcador de contenido 5">
            <a:extLst>
              <a:ext uri="{FF2B5EF4-FFF2-40B4-BE49-F238E27FC236}">
                <a16:creationId xmlns:a16="http://schemas.microsoft.com/office/drawing/2014/main" id="{1456E5E4-B5E5-9ABF-F272-98706BB3704D}"/>
              </a:ext>
            </a:extLst>
          </p:cNvPr>
          <p:cNvSpPr>
            <a:spLocks noGrp="1"/>
          </p:cNvSpPr>
          <p:nvPr>
            <p:ph sz="quarter" idx="4"/>
          </p:nvPr>
        </p:nvSpPr>
        <p:spPr/>
        <p:txBody>
          <a:bodyPr/>
          <a:lstStyle/>
          <a:p>
            <a:pPr marL="198234" rtl="0" fontAlgn="base">
              <a:spcBef>
                <a:spcPts val="0"/>
              </a:spcBef>
              <a:spcAft>
                <a:spcPts val="0"/>
              </a:spcAft>
              <a:buFont typeface="Arial" panose="020B0604020202020204" pitchFamily="34" charset="0"/>
              <a:buChar char="•"/>
            </a:pPr>
            <a:r>
              <a:rPr lang="es-419" sz="1800" b="0" i="0" u="none" strike="noStrike" dirty="0">
                <a:solidFill>
                  <a:srgbClr val="000000"/>
                </a:solidFill>
                <a:effectLst/>
                <a:latin typeface="Poppins" panose="00000500000000000000" pitchFamily="2" charset="0"/>
              </a:rPr>
              <a:t>Edad  con hipertensión: combinación crítica en casos de ACV.</a:t>
            </a:r>
            <a:endParaRPr lang="es-419" sz="1800" b="0" i="0" u="none" strike="noStrike" dirty="0">
              <a:solidFill>
                <a:srgbClr val="000000"/>
              </a:solidFill>
              <a:effectLst/>
              <a:latin typeface="Arial" panose="020B0604020202020204" pitchFamily="34" charset="0"/>
            </a:endParaRPr>
          </a:p>
          <a:p>
            <a:pPr marL="198234" rtl="0" fontAlgn="base">
              <a:spcBef>
                <a:spcPts val="0"/>
              </a:spcBef>
              <a:spcAft>
                <a:spcPts val="0"/>
              </a:spcAft>
              <a:buFont typeface="Arial" panose="020B0604020202020204" pitchFamily="34" charset="0"/>
              <a:buChar char="•"/>
            </a:pPr>
            <a:r>
              <a:rPr lang="es-419" sz="1800" b="0" i="0" u="none" strike="noStrike" dirty="0">
                <a:solidFill>
                  <a:srgbClr val="000000"/>
                </a:solidFill>
                <a:effectLst/>
                <a:latin typeface="Poppins" panose="00000500000000000000" pitchFamily="2" charset="0"/>
              </a:rPr>
              <a:t>Glucosa con tabaquismo: mayor frecuencia de ACV.</a:t>
            </a:r>
            <a:endParaRPr lang="es-419" sz="1800" b="0" i="0" u="none" strike="noStrike" dirty="0">
              <a:solidFill>
                <a:srgbClr val="000000"/>
              </a:solidFill>
              <a:effectLst/>
              <a:latin typeface="Arial" panose="020B0604020202020204" pitchFamily="34" charset="0"/>
            </a:endParaRPr>
          </a:p>
          <a:p>
            <a:pPr marL="198234" rtl="0" fontAlgn="base">
              <a:spcBef>
                <a:spcPts val="0"/>
              </a:spcBef>
              <a:spcAft>
                <a:spcPts val="0"/>
              </a:spcAft>
              <a:buFont typeface="Arial" panose="020B0604020202020204" pitchFamily="34" charset="0"/>
              <a:buChar char="•"/>
            </a:pPr>
            <a:r>
              <a:rPr lang="es-419" sz="1800" b="0" i="0" u="none" strike="noStrike" dirty="0">
                <a:solidFill>
                  <a:srgbClr val="000000"/>
                </a:solidFill>
                <a:effectLst/>
                <a:latin typeface="Poppins" panose="00000500000000000000" pitchFamily="2" charset="0"/>
              </a:rPr>
              <a:t>Tipo de residencia: leve diferencia entre urbano y rural.</a:t>
            </a:r>
            <a:endParaRPr lang="es-419" sz="1800" b="0" i="0" u="none" strike="noStrike" dirty="0">
              <a:solidFill>
                <a:srgbClr val="000000"/>
              </a:solidFill>
              <a:effectLst/>
              <a:latin typeface="Arial" panose="020B0604020202020204" pitchFamily="34" charset="0"/>
            </a:endParaRPr>
          </a:p>
          <a:p>
            <a:pPr marL="198234" rtl="0" fontAlgn="base">
              <a:spcBef>
                <a:spcPts val="0"/>
              </a:spcBef>
              <a:spcAft>
                <a:spcPts val="0"/>
              </a:spcAft>
              <a:buFont typeface="Arial" panose="020B0604020202020204" pitchFamily="34" charset="0"/>
              <a:buChar char="•"/>
            </a:pPr>
            <a:r>
              <a:rPr lang="es-419" sz="1800" b="0" i="0" u="none" strike="noStrike" dirty="0">
                <a:solidFill>
                  <a:srgbClr val="000000"/>
                </a:solidFill>
                <a:effectLst/>
                <a:latin typeface="Poppins" panose="00000500000000000000" pitchFamily="2" charset="0"/>
              </a:rPr>
              <a:t>Correlaciones visuales mediante gráficos de dispersión y barras apiladas.</a:t>
            </a:r>
            <a:endParaRPr lang="es-419" sz="1800" b="0" i="0" u="none" strike="noStrike" dirty="0">
              <a:solidFill>
                <a:srgbClr val="000000"/>
              </a:solidFill>
              <a:effectLst/>
              <a:latin typeface="Arial" panose="020B0604020202020204" pitchFamily="34" charset="0"/>
            </a:endParaRPr>
          </a:p>
          <a:p>
            <a:pPr marL="0" indent="0">
              <a:buNone/>
            </a:pPr>
            <a:endParaRPr lang="es-419" dirty="0"/>
          </a:p>
        </p:txBody>
      </p:sp>
    </p:spTree>
    <p:extLst>
      <p:ext uri="{BB962C8B-B14F-4D97-AF65-F5344CB8AC3E}">
        <p14:creationId xmlns:p14="http://schemas.microsoft.com/office/powerpoint/2010/main" val="1357627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F5B7A3-3FCD-2355-E170-24D48AB3FD17}"/>
              </a:ext>
            </a:extLst>
          </p:cNvPr>
          <p:cNvSpPr>
            <a:spLocks noGrp="1"/>
          </p:cNvSpPr>
          <p:nvPr>
            <p:ph type="title"/>
          </p:nvPr>
        </p:nvSpPr>
        <p:spPr/>
        <p:txBody>
          <a:bodyPr/>
          <a:lstStyle/>
          <a:p>
            <a:r>
              <a:rPr lang="es-CO" b="0" dirty="0">
                <a:solidFill>
                  <a:schemeClr val="accent6">
                    <a:lumMod val="75000"/>
                  </a:schemeClr>
                </a:solidFill>
                <a:latin typeface="Arial"/>
              </a:rPr>
              <a:t>Dashboard</a:t>
            </a:r>
            <a:br>
              <a:rPr lang="es-CO" sz="4400" b="0" u="none" strike="noStrike" dirty="0">
                <a:solidFill>
                  <a:schemeClr val="accent6">
                    <a:lumMod val="60000"/>
                    <a:lumOff val="40000"/>
                  </a:schemeClr>
                </a:solidFill>
                <a:effectLst/>
                <a:uFillTx/>
                <a:latin typeface="Arial"/>
              </a:rPr>
            </a:br>
            <a:endParaRPr lang="es-419" dirty="0">
              <a:solidFill>
                <a:schemeClr val="accent6">
                  <a:lumMod val="60000"/>
                  <a:lumOff val="40000"/>
                </a:schemeClr>
              </a:solidFill>
            </a:endParaRP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3" name="Complemento 2" title="Microsoft Power BI">
                <a:extLst>
                  <a:ext uri="{FF2B5EF4-FFF2-40B4-BE49-F238E27FC236}">
                    <a16:creationId xmlns:a16="http://schemas.microsoft.com/office/drawing/2014/main" id="{18C0D56E-4458-F81F-65BE-3FB19C1F8133}"/>
                  </a:ext>
                </a:extLst>
              </p:cNvPr>
              <p:cNvGraphicFramePr>
                <a:graphicFrameLocks noGrp="1"/>
              </p:cNvGraphicFramePr>
              <p:nvPr>
                <p:extLst>
                  <p:ext uri="{D42A27DB-BD31-4B8C-83A1-F6EECF244321}">
                    <p14:modId xmlns:p14="http://schemas.microsoft.com/office/powerpoint/2010/main" val="1496894332"/>
                  </p:ext>
                </p:extLst>
              </p:nvPr>
            </p:nvGraphicFramePr>
            <p:xfrm>
              <a:off x="1634208" y="993058"/>
              <a:ext cx="10243160" cy="4965658"/>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3" name="Complemento 2" title="Microsoft Power BI">
                <a:extLst>
                  <a:ext uri="{FF2B5EF4-FFF2-40B4-BE49-F238E27FC236}">
                    <a16:creationId xmlns:a16="http://schemas.microsoft.com/office/drawing/2014/main" id="{18C0D56E-4458-F81F-65BE-3FB19C1F8133}"/>
                  </a:ext>
                </a:extLst>
              </p:cNvPr>
              <p:cNvPicPr>
                <a:picLocks noGrp="1" noRot="1" noChangeAspect="1" noMove="1" noResize="1" noEditPoints="1" noAdjustHandles="1" noChangeArrowheads="1" noChangeShapeType="1"/>
              </p:cNvPicPr>
              <p:nvPr/>
            </p:nvPicPr>
            <p:blipFill>
              <a:blip r:embed="rId3"/>
              <a:stretch>
                <a:fillRect/>
              </a:stretch>
            </p:blipFill>
            <p:spPr>
              <a:xfrm>
                <a:off x="1634208" y="993058"/>
                <a:ext cx="10243160" cy="4965658"/>
              </a:xfrm>
              <a:prstGeom prst="rect">
                <a:avLst/>
              </a:prstGeom>
            </p:spPr>
          </p:pic>
        </mc:Fallback>
      </mc:AlternateContent>
    </p:spTree>
    <p:extLst>
      <p:ext uri="{BB962C8B-B14F-4D97-AF65-F5344CB8AC3E}">
        <p14:creationId xmlns:p14="http://schemas.microsoft.com/office/powerpoint/2010/main" val="2953133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DAF525-4DC5-AEB2-1E75-849355298E17}"/>
              </a:ext>
            </a:extLst>
          </p:cNvPr>
          <p:cNvSpPr>
            <a:spLocks noGrp="1"/>
          </p:cNvSpPr>
          <p:nvPr>
            <p:ph type="title"/>
          </p:nvPr>
        </p:nvSpPr>
        <p:spPr>
          <a:xfrm>
            <a:off x="2329841" y="0"/>
            <a:ext cx="9023959" cy="1325563"/>
          </a:xfrm>
        </p:spPr>
        <p:txBody>
          <a:bodyPr/>
          <a:lstStyle/>
          <a:p>
            <a:r>
              <a:rPr lang="es-CO" dirty="0"/>
              <a:t>Dashboard</a:t>
            </a:r>
            <a:endParaRPr lang="es-419" dirty="0"/>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6" name="Marcador de contenido 5" title="Microsoft Power BI">
                <a:extLst>
                  <a:ext uri="{FF2B5EF4-FFF2-40B4-BE49-F238E27FC236}">
                    <a16:creationId xmlns:a16="http://schemas.microsoft.com/office/drawing/2014/main" id="{7C5656C3-0B3A-081F-6483-A569C3024AA7}"/>
                  </a:ext>
                </a:extLst>
              </p:cNvPr>
              <p:cNvGraphicFramePr>
                <a:graphicFrameLocks noGrp="1"/>
              </p:cNvGraphicFramePr>
              <p:nvPr>
                <p:ph idx="1"/>
                <p:extLst>
                  <p:ext uri="{D42A27DB-BD31-4B8C-83A1-F6EECF244321}">
                    <p14:modId xmlns:p14="http://schemas.microsoft.com/office/powerpoint/2010/main" val="2119815642"/>
                  </p:ext>
                </p:extLst>
              </p:nvPr>
            </p:nvGraphicFramePr>
            <p:xfrm>
              <a:off x="1504335" y="1042220"/>
              <a:ext cx="10412362" cy="4935794"/>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6" name="Marcador de contenido 5" title="Microsoft Power BI">
                <a:extLst>
                  <a:ext uri="{FF2B5EF4-FFF2-40B4-BE49-F238E27FC236}">
                    <a16:creationId xmlns:a16="http://schemas.microsoft.com/office/drawing/2014/main" id="{7C5656C3-0B3A-081F-6483-A569C3024AA7}"/>
                  </a:ext>
                </a:extLst>
              </p:cNvPr>
              <p:cNvPicPr>
                <a:picLocks noGrp="1" noRot="1" noChangeAspect="1" noMove="1" noResize="1" noEditPoints="1" noAdjustHandles="1" noChangeArrowheads="1" noChangeShapeType="1"/>
              </p:cNvPicPr>
              <p:nvPr/>
            </p:nvPicPr>
            <p:blipFill>
              <a:blip r:embed="rId3"/>
              <a:stretch>
                <a:fillRect/>
              </a:stretch>
            </p:blipFill>
            <p:spPr>
              <a:xfrm>
                <a:off x="1504335" y="1042220"/>
                <a:ext cx="10412362" cy="4935794"/>
              </a:xfrm>
              <a:prstGeom prst="rect">
                <a:avLst/>
              </a:prstGeom>
            </p:spPr>
          </p:pic>
        </mc:Fallback>
      </mc:AlternateContent>
    </p:spTree>
    <p:extLst>
      <p:ext uri="{BB962C8B-B14F-4D97-AF65-F5344CB8AC3E}">
        <p14:creationId xmlns:p14="http://schemas.microsoft.com/office/powerpoint/2010/main" val="838562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129D83-C9D9-69C3-9041-776EEE08ED9F}"/>
              </a:ext>
            </a:extLst>
          </p:cNvPr>
          <p:cNvSpPr>
            <a:spLocks noGrp="1"/>
          </p:cNvSpPr>
          <p:nvPr>
            <p:ph type="title"/>
          </p:nvPr>
        </p:nvSpPr>
        <p:spPr>
          <a:xfrm>
            <a:off x="2624808" y="227473"/>
            <a:ext cx="9023959" cy="1325563"/>
          </a:xfrm>
        </p:spPr>
        <p:txBody>
          <a:bodyPr/>
          <a:lstStyle/>
          <a:p>
            <a:r>
              <a:rPr lang="es-CO" b="0" dirty="0">
                <a:solidFill>
                  <a:srgbClr val="000000"/>
                </a:solidFill>
                <a:latin typeface="Arial"/>
              </a:rPr>
              <a:t>Dashboard</a:t>
            </a:r>
            <a:br>
              <a:rPr lang="es-CO" sz="4400" b="0" u="none" strike="noStrike" dirty="0">
                <a:solidFill>
                  <a:srgbClr val="FFFFFF"/>
                </a:solidFill>
                <a:effectLst/>
                <a:uFillTx/>
                <a:latin typeface="Arial"/>
              </a:rPr>
            </a:br>
            <a:endParaRPr lang="es-419" dirty="0"/>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6" name="Marcador de contenido 5" title="Microsoft Power BI">
                <a:extLst>
                  <a:ext uri="{FF2B5EF4-FFF2-40B4-BE49-F238E27FC236}">
                    <a16:creationId xmlns:a16="http://schemas.microsoft.com/office/drawing/2014/main" id="{177D9ADD-7017-854B-3856-EEAD9DF1E9BA}"/>
                  </a:ext>
                </a:extLst>
              </p:cNvPr>
              <p:cNvGraphicFramePr>
                <a:graphicFrameLocks noGrp="1"/>
              </p:cNvGraphicFramePr>
              <p:nvPr>
                <p:ph idx="1"/>
                <p:extLst>
                  <p:ext uri="{D42A27DB-BD31-4B8C-83A1-F6EECF244321}">
                    <p14:modId xmlns:p14="http://schemas.microsoft.com/office/powerpoint/2010/main" val="2408443209"/>
                  </p:ext>
                </p:extLst>
              </p:nvPr>
            </p:nvGraphicFramePr>
            <p:xfrm>
              <a:off x="1415845" y="845574"/>
              <a:ext cx="10776155" cy="4853551"/>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6" name="Marcador de contenido 5" title="Microsoft Power BI">
                <a:extLst>
                  <a:ext uri="{FF2B5EF4-FFF2-40B4-BE49-F238E27FC236}">
                    <a16:creationId xmlns:a16="http://schemas.microsoft.com/office/drawing/2014/main" id="{177D9ADD-7017-854B-3856-EEAD9DF1E9BA}"/>
                  </a:ext>
                </a:extLst>
              </p:cNvPr>
              <p:cNvPicPr>
                <a:picLocks noGrp="1" noRot="1" noChangeAspect="1" noMove="1" noResize="1" noEditPoints="1" noAdjustHandles="1" noChangeArrowheads="1" noChangeShapeType="1"/>
              </p:cNvPicPr>
              <p:nvPr/>
            </p:nvPicPr>
            <p:blipFill>
              <a:blip r:embed="rId3"/>
              <a:stretch>
                <a:fillRect/>
              </a:stretch>
            </p:blipFill>
            <p:spPr>
              <a:xfrm>
                <a:off x="1415845" y="845574"/>
                <a:ext cx="10776155" cy="4853551"/>
              </a:xfrm>
              <a:prstGeom prst="rect">
                <a:avLst/>
              </a:prstGeom>
            </p:spPr>
          </p:pic>
        </mc:Fallback>
      </mc:AlternateContent>
    </p:spTree>
    <p:extLst>
      <p:ext uri="{BB962C8B-B14F-4D97-AF65-F5344CB8AC3E}">
        <p14:creationId xmlns:p14="http://schemas.microsoft.com/office/powerpoint/2010/main" val="24705392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CFAA95-21A8-6C6B-957B-8BA67305F99D}"/>
              </a:ext>
            </a:extLst>
          </p:cNvPr>
          <p:cNvSpPr>
            <a:spLocks noGrp="1"/>
          </p:cNvSpPr>
          <p:nvPr>
            <p:ph type="title"/>
          </p:nvPr>
        </p:nvSpPr>
        <p:spPr/>
        <p:txBody>
          <a:bodyPr/>
          <a:lstStyle/>
          <a:p>
            <a:r>
              <a:rPr lang="es-CO" dirty="0"/>
              <a:t>Hallazgos</a:t>
            </a:r>
            <a:endParaRPr lang="es-419" dirty="0"/>
          </a:p>
        </p:txBody>
      </p:sp>
      <p:sp>
        <p:nvSpPr>
          <p:cNvPr id="3" name="Marcador de contenido 2">
            <a:extLst>
              <a:ext uri="{FF2B5EF4-FFF2-40B4-BE49-F238E27FC236}">
                <a16:creationId xmlns:a16="http://schemas.microsoft.com/office/drawing/2014/main" id="{AD2DCF11-AB7D-5598-B258-DFF0D345205D}"/>
              </a:ext>
            </a:extLst>
          </p:cNvPr>
          <p:cNvSpPr>
            <a:spLocks noGrp="1"/>
          </p:cNvSpPr>
          <p:nvPr>
            <p:ph idx="1"/>
          </p:nvPr>
        </p:nvSpPr>
        <p:spPr/>
        <p:txBody>
          <a:bodyPr/>
          <a:lstStyle/>
          <a:p>
            <a:pPr marL="181089" rtl="0" fontAlgn="base">
              <a:spcBef>
                <a:spcPts val="0"/>
              </a:spcBef>
              <a:spcAft>
                <a:spcPts val="0"/>
              </a:spcAft>
              <a:buFont typeface="Arial" panose="020B0604020202020204" pitchFamily="34" charset="0"/>
              <a:buChar char="•"/>
            </a:pPr>
            <a:r>
              <a:rPr lang="es-419" sz="1800" dirty="0">
                <a:solidFill>
                  <a:srgbClr val="000000"/>
                </a:solidFill>
                <a:latin typeface="Poppins" panose="00000500000000000000" pitchFamily="2" charset="0"/>
              </a:rPr>
              <a:t>Una e</a:t>
            </a:r>
            <a:r>
              <a:rPr lang="es-419" sz="1800" b="0" i="0" u="none" strike="noStrike" dirty="0">
                <a:solidFill>
                  <a:srgbClr val="000000"/>
                </a:solidFill>
                <a:effectLst/>
                <a:latin typeface="Poppins" panose="00000500000000000000" pitchFamily="2" charset="0"/>
              </a:rPr>
              <a:t>dad avanzada, hipertensión y enfermedad cardíaca son los factores más influyentes.</a:t>
            </a:r>
            <a:endParaRPr lang="es-419" sz="1800" b="0" i="0" u="none" strike="noStrike" dirty="0">
              <a:solidFill>
                <a:srgbClr val="000000"/>
              </a:solidFill>
              <a:effectLst/>
              <a:latin typeface="Arial" panose="020B0604020202020204" pitchFamily="34" charset="0"/>
            </a:endParaRPr>
          </a:p>
          <a:p>
            <a:pPr marL="181089" rtl="0" fontAlgn="base">
              <a:spcBef>
                <a:spcPts val="0"/>
              </a:spcBef>
              <a:spcAft>
                <a:spcPts val="0"/>
              </a:spcAft>
              <a:buFont typeface="Arial" panose="020B0604020202020204" pitchFamily="34" charset="0"/>
              <a:buChar char="•"/>
            </a:pPr>
            <a:r>
              <a:rPr lang="es-419" sz="1800" b="0" i="0" u="none" strike="noStrike" dirty="0">
                <a:solidFill>
                  <a:srgbClr val="000000"/>
                </a:solidFill>
                <a:effectLst/>
                <a:latin typeface="Poppins" panose="00000500000000000000" pitchFamily="2" charset="0"/>
              </a:rPr>
              <a:t>Fumar y tener niveles altos de glucosa pueden llegar a incrementan el riesgo.</a:t>
            </a:r>
            <a:endParaRPr lang="es-419" sz="1800" b="0" i="0" u="none" strike="noStrike" dirty="0">
              <a:solidFill>
                <a:srgbClr val="000000"/>
              </a:solidFill>
              <a:effectLst/>
              <a:latin typeface="Arial" panose="020B0604020202020204" pitchFamily="34" charset="0"/>
            </a:endParaRPr>
          </a:p>
          <a:p>
            <a:pPr marL="181089" rtl="0" fontAlgn="base">
              <a:spcBef>
                <a:spcPts val="0"/>
              </a:spcBef>
              <a:spcAft>
                <a:spcPts val="0"/>
              </a:spcAft>
              <a:buFont typeface="Arial" panose="020B0604020202020204" pitchFamily="34" charset="0"/>
              <a:buChar char="•"/>
            </a:pPr>
            <a:r>
              <a:rPr lang="es-419" sz="1800" b="0" i="0" u="none" strike="noStrike" dirty="0">
                <a:solidFill>
                  <a:srgbClr val="000000"/>
                </a:solidFill>
                <a:effectLst/>
                <a:latin typeface="Poppins" panose="00000500000000000000" pitchFamily="2" charset="0"/>
              </a:rPr>
              <a:t>Las visualizaciones permiten segmentar por múltiples variables,</a:t>
            </a:r>
            <a:endParaRPr lang="es-419" sz="1800" b="0"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40487138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E11776-2193-2F64-938F-ED5E93835B01}"/>
              </a:ext>
            </a:extLst>
          </p:cNvPr>
          <p:cNvSpPr>
            <a:spLocks noGrp="1"/>
          </p:cNvSpPr>
          <p:nvPr>
            <p:ph type="ctrTitle"/>
          </p:nvPr>
        </p:nvSpPr>
        <p:spPr>
          <a:xfrm>
            <a:off x="1425677" y="404608"/>
            <a:ext cx="9144000" cy="598282"/>
          </a:xfrm>
        </p:spPr>
        <p:txBody>
          <a:bodyPr>
            <a:normAutofit fontScale="90000"/>
          </a:bodyPr>
          <a:lstStyle/>
          <a:p>
            <a:r>
              <a:rPr lang="es-CO" dirty="0"/>
              <a:t>Conclusiones</a:t>
            </a:r>
            <a:endParaRPr lang="es-419" dirty="0"/>
          </a:p>
        </p:txBody>
      </p:sp>
      <p:sp>
        <p:nvSpPr>
          <p:cNvPr id="3" name="Subtítulo 2">
            <a:extLst>
              <a:ext uri="{FF2B5EF4-FFF2-40B4-BE49-F238E27FC236}">
                <a16:creationId xmlns:a16="http://schemas.microsoft.com/office/drawing/2014/main" id="{2283AD85-3D2C-0CF5-1C1C-0BFB673E2AE5}"/>
              </a:ext>
            </a:extLst>
          </p:cNvPr>
          <p:cNvSpPr>
            <a:spLocks noGrp="1"/>
          </p:cNvSpPr>
          <p:nvPr>
            <p:ph type="subTitle" idx="1"/>
          </p:nvPr>
        </p:nvSpPr>
        <p:spPr>
          <a:xfrm>
            <a:off x="1818968" y="1533832"/>
            <a:ext cx="9144000" cy="3333136"/>
          </a:xfrm>
        </p:spPr>
        <p:txBody>
          <a:bodyPr>
            <a:normAutofit fontScale="85000" lnSpcReduction="20000"/>
          </a:bodyPr>
          <a:lstStyle/>
          <a:p>
            <a:pPr algn="l"/>
            <a:r>
              <a:rPr lang="es-419" dirty="0">
                <a:solidFill>
                  <a:schemeClr val="tx1"/>
                </a:solidFill>
              </a:rPr>
              <a:t>Se determinó que las personas mayores de 60 años con antecedentes de hipertensión y enfermedades cardíacas muestran una mayor predisposición a sufrir ataques cerebrovasculares, siendo estas condiciones clínicas las más frecuentes en los casos positivos analizados.</a:t>
            </a:r>
          </a:p>
          <a:p>
            <a:pPr algn="l"/>
            <a:r>
              <a:rPr lang="es-419" dirty="0">
                <a:solidFill>
                  <a:schemeClr val="tx1"/>
                </a:solidFill>
              </a:rPr>
              <a:t>Asimismo, se identificaron factores como el consumo de tabaco, un índice de masa corporal elevado y altos niveles de glucosa en sangre, los cuales se relacionan directamente con el incremento del riesgo de ACV. Estos hallazgos subrayan la relevancia de vigilar y controlar dichos indicadores dentro de la población.</a:t>
            </a:r>
          </a:p>
          <a:p>
            <a:pPr algn="l"/>
            <a:r>
              <a:rPr lang="es-419" dirty="0">
                <a:solidFill>
                  <a:schemeClr val="tx1"/>
                </a:solidFill>
              </a:rPr>
              <a:t>Finalmente, el Dashboard elaborado permitió representar de manera clara y segmentada las interacciones entre las variables, lo que facilitó la comprensión de los grupos más vulnerables. El análisis explicativo cumplió con el propósito de caracterizar a la población con mayor riesgo frente a esta enfermedad.</a:t>
            </a:r>
          </a:p>
          <a:p>
            <a:pPr algn="just"/>
            <a:endParaRPr lang="es-419" dirty="0"/>
          </a:p>
        </p:txBody>
      </p:sp>
    </p:spTree>
    <p:extLst>
      <p:ext uri="{BB962C8B-B14F-4D97-AF65-F5344CB8AC3E}">
        <p14:creationId xmlns:p14="http://schemas.microsoft.com/office/powerpoint/2010/main" val="37686840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BEE936AE-0CA0-92AB-10B4-8AD78373D3DB}"/>
              </a:ext>
            </a:extLst>
          </p:cNvPr>
          <p:cNvSpPr>
            <a:spLocks noGrp="1"/>
          </p:cNvSpPr>
          <p:nvPr>
            <p:ph type="ctrTitle"/>
          </p:nvPr>
        </p:nvSpPr>
        <p:spPr/>
        <p:txBody>
          <a:bodyPr/>
          <a:lstStyle/>
          <a:p>
            <a:r>
              <a:rPr lang="es-CO"/>
              <a:t>¡MUCHAS GRACIAS</a:t>
            </a:r>
            <a:r>
              <a:rPr lang="es-CO" dirty="0"/>
              <a:t>!</a:t>
            </a:r>
            <a:endParaRPr lang="es-419" dirty="0"/>
          </a:p>
        </p:txBody>
      </p:sp>
      <p:sp>
        <p:nvSpPr>
          <p:cNvPr id="5" name="Subtítulo 4">
            <a:extLst>
              <a:ext uri="{FF2B5EF4-FFF2-40B4-BE49-F238E27FC236}">
                <a16:creationId xmlns:a16="http://schemas.microsoft.com/office/drawing/2014/main" id="{8428FE02-D02B-03E9-9172-458680D8B051}"/>
              </a:ext>
            </a:extLst>
          </p:cNvPr>
          <p:cNvSpPr>
            <a:spLocks noGrp="1"/>
          </p:cNvSpPr>
          <p:nvPr>
            <p:ph type="subTitle" idx="1"/>
          </p:nvPr>
        </p:nvSpPr>
        <p:spPr/>
        <p:txBody>
          <a:bodyPr/>
          <a:lstStyle/>
          <a:p>
            <a:endParaRPr lang="es-419"/>
          </a:p>
        </p:txBody>
      </p:sp>
    </p:spTree>
    <p:extLst>
      <p:ext uri="{BB962C8B-B14F-4D97-AF65-F5344CB8AC3E}">
        <p14:creationId xmlns:p14="http://schemas.microsoft.com/office/powerpoint/2010/main" val="2633414122"/>
      </p:ext>
    </p:extLst>
  </p:cSld>
  <p:clrMapOvr>
    <a:masterClrMapping/>
  </p:clrMapOvr>
</p:sld>
</file>

<file path=ppt/theme/theme1.xml><?xml version="1.0" encoding="utf-8"?>
<a:theme xmlns:a="http://schemas.openxmlformats.org/drawingml/2006/main" name="UCUNDINAMARCA GRIS v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CUNDINAMARCA GRIS v2" id="{13B3B0AF-89EE-644E-AE62-809BF17587A4}" vid="{5E1679E5-8669-CF49-BC9F-CEFB668066FD}"/>
    </a:ext>
  </a:extLst>
</a:theme>
</file>

<file path=ppt/webextensions/_rels/webextension1.xml.rels><?xml version="1.0" encoding="UTF-8" standalone="yes"?>
<Relationships xmlns="http://schemas.openxmlformats.org/package/2006/relationships"><Relationship Id="rId1" Type="http://schemas.openxmlformats.org/officeDocument/2006/relationships/image" Target="../media/image6.png"/></Relationships>
</file>

<file path=ppt/webextensions/_rels/webextension2.xml.rels><?xml version="1.0" encoding="UTF-8" standalone="yes"?>
<Relationships xmlns="http://schemas.openxmlformats.org/package/2006/relationships"><Relationship Id="rId1" Type="http://schemas.openxmlformats.org/officeDocument/2006/relationships/image" Target="../media/image7.png"/></Relationships>
</file>

<file path=ppt/webextensions/_rels/webextension3.xml.rels><?xml version="1.0" encoding="UTF-8" standalone="yes"?>
<Relationships xmlns="http://schemas.openxmlformats.org/package/2006/relationships"><Relationship Id="rId1" Type="http://schemas.openxmlformats.org/officeDocument/2006/relationships/image" Target="../media/image8.png"/></Relationships>
</file>

<file path=ppt/webextensions/webextension1.xml><?xml version="1.0" encoding="utf-8"?>
<we:webextension xmlns:we="http://schemas.microsoft.com/office/webextensions/webextension/2010/11" id="{E3FEB4C7-8AB2-4F8C-9D9D-3F7A0B77F145}">
  <we:reference id="wa200003233" version="2.0.0.3" store="es-ES" storeType="OMEX"/>
  <we:alternateReferences>
    <we:reference id="wa200003233" version="2.0.0.3" store="wa200003233" storeType="OMEX"/>
  </we:alternateReferences>
  <we:properties>
    <we:property name="embedUrl" value="&quot;/reportEmbed?reportId=29dd0c0c-af18-49c8-906d-77407b6ee156&amp;config=eyJjbHVzdGVyVXJsIjoiaHR0cHM6Ly9XQUJJLVNPVVRILUNFTlRSQUwtVVMtcmVkaXJlY3QuYW5hbHlzaXMud2luZG93cy5uZXQiLCJlbWJlZEZlYXR1cmVzIjp7InVzYWdlTWV0cmljc1ZOZXh0Ijp0cnVlfX0%3D&amp;disableSensitivityBanner=true&amp;storytellingChangeViewModeShortcutKeys=true&quot;"/>
    <we:property name="bookmark" value="&quot;H4sIAAAAAAAAA+VXz28TOxD+V5AvXCLk/b3bGw2BC6CqRbmgKhrbk9TIWa9sb2mo8r8z6y3Qljz6eA9IUHPJ7nh25puZb2zPNVPadwY2b2GN7Ii9ASdBWfckYRPWjrJSZYXKk5xXTVVDgVUjSlq1XdC29ezomgVwKwxz7XswgyESvj+fMDDmBFbD2xKMxwnr0HnbgtGfcFSmpeB63E4YXnXGOhhMngUIOJi9JHV6JwjJs6QglyCDvsQzlOFGXFR1BYJzAbxUeZPTH6n5USFC26ky2I7+p7YNoFvyM8iETNKsgSzjDUqFWaaaqLvUJnxR2cyuOkfhUdCbbsjOlMCurNMSDIthOPQj6ms2taZfx6fZHfmZ7Z3EU1zGpTbosCFLFwgmXLAtZePEWcpVlL5Cgmej9MJ+nDokf4od8e3kj0F4blZ9C4s5flpMwRM99ormne7s4gUuZuvO4GFAOUWvFbZSw17hzHyg4gyAXvZrcPvlzHS+w/85SbxuV+am/7914rsRVgBhcHY19Hof7BkaauX5LYWbjcSKD7QwdOR2cNLwpJJCSqHSRGR1ococD7dxH0yCN1qiY7fDZGukLXZ4UBAghtGNrjSO61bFZYxRXrPXmiIfbc/B9IPZp8fgtXxKiOh3PuAa91PC/OHWjhnVfXTxS9NwHkuVNEKVRamKQmW5kiqH4uE99rm6hFZS9u7X6Q2C7x3+zy62AcyTE5Aa20CR/4eKSXDqTr3oA+sUuuNNjOOFdl8OrXRyD+pvimGscLZcljUIIUshleBJKaHee2f83Hly+MU3vadkojoGN70AFw6OCf/Q6Td13vyyXt9V2LHt8yYBVQDdLUVZVZWgC1mzdx7+i6vVwZNP2bYPj5t1904YLkTOm6pRmDdKIqQJ7J9qP3FpPXjKyZiPx8257+o5cg/zKklFlau6Tpo6TbIS938RPYV2ZRczBerv5l2n8XGT7k4hR8LJelkBokzTimcNz3haicHSDxOp10CzxHdTVMVhmdeQFJyrkgueF3nxoC2I8R73IVA890xGq7tmGNsH34HEE2hxxyxD9INWDaz44TwTZ8Gv08x2+xk+3qpzzBIAAA==&quot;"/>
    <we:property name="datasetId" value="&quot;dc29c07d-a772-440c-8604-4f97bccae57a&quot;"/>
    <we:property name="pageName" value="&quot;15787ab00ba06d494a06&quot;"/>
    <we:property name="reportUrl" value="&quot;/groups/me/reports/29dd0c0c-af18-49c8-906d-77407b6ee156/15787ab00ba06d494a06&quot;"/>
    <we:property name="reportName" value="&quot;Ciencia de datos OFICIAL&quot;"/>
    <we:property name="reportState" value="&quot;CONNECTED&quot;"/>
    <we:property name="pageDisplayName" value="&quot;Análisis Demografico&quot;"/>
    <we:property name="backgroundColor" value="&quot;#FFFFFF&quot;"/>
    <we:property name="initialStateBookmark" value="&quot;H4sIAAAAAAAAA+VY32/bNhD+Vwq+9MUYqN9S3mLX20OXNkgKvwyBcSTPDgtaFCgqixv4f9+RSrck9Zp162YP8Yul4+nuu7vvKJ7umNJ9Z2D7DjbITtgZOAnKulcJm7B2lE3fv397dnrxdvnu9GxOYtt5bduendwxD26NfqH7AUywQMJfriYMjDmHdbhbgelxwjp0vW3B6E84KtOSdwPuJgxvO2MdBJOXHjwGszekTvfkO/khKcglSK9v8BKlvxcXVV2B4FwAL1Xe5PRHav2oEKHtVQm2o/+ZbT3olvwEmZBJmjWQZbxBqTDLVBN1V9r4zyrb+W3nKDwKetuFtMwI7No6LcGwGIbDfkR9x2bWDJt4NX8kv7SDk3iBq7jUeu23ZOkawfhrtqNsnDtLuYrSn5Dg2Si9tr/OHJI/xU74bvKfQTg166GF5QI/LWfQEy8OiuaD7uzyDS7nm87gcUC5wF4rbKWGg8KZ956KEwD9OGzAHZYzs8Ue/1ck6XW7Nvf9/0cnfhhheRAG57eh1wdvL9FQKy8eKNxvJFZ8pIXQkbvgpOFJJYWUQqWJyOpClTkeb+M+m4TeaImOPQyTbZC22HChwEMMoxtdaRzXrYrLGKO8Yz9riny0vQAzBLOvp9Br+ZoQ0e8q4Br3U8L88cGOGdX76OK7puEqlipphCqLUhWFynIlVQ7F83vsqbqBVlL2ntbpDKEfHP7DLrYezKtzkBpbT5H/jYpJcOpRvegB6xS66TbG8Ua7zy+tdPIE6r8Uw1jhbLUqaxBClkIqwZNSQn3wzvi298nxF98MPSUT1RTc7BqcPzom/Emn39d5+916fV9hx7bPmwRUAXSoFGVVVYIOZM3BefgXjlZHTz5l28G/bNY9ecNwIXLeVI3CvFESIU3g8FT7hkPr0VNOxny8bM59Uc+Re5hXSSqqXNV10tRpkpV4+IPoBbRru5wrUP9v3nUaXzbpHhVyJJysVxUgyjSteNbwjKeVCJa+mki9AZolvpiiKg6rvIak4FyVXPC8yItnbUGMdzp4T/E8MRmt7pth7OD7DiSeQ4t7ZhmiH7QqsOKr80ycBVl0QpA0DY7PPBA+Nf0+/ex2vwFiq7P99RIAAA==&quot;"/>
    <we:property name="isFiltersActionButtonVisible" value="true"/>
    <we:property name="isVisualContainerHeaderHidden" value="false"/>
    <we:property name="reportEmbeddedTime" value="&quot;2025-11-21T13:43:50.773Z&quot;"/>
    <we:property name="creatorTenantId" value="&quot;07da67a0-1f43-4e8c-977f-5f88b6470ee6&quot;"/>
    <we:property name="creatorUserId" value="&quot;10032001D6E266CD&quot;"/>
    <we:property name="creatorSessionId" value="&quot;12aa23a2-81f6-4ac4-a763-e9478df42a9d&quot;"/>
  </we:properties>
  <we:bindings/>
  <we:snapshot xmlns:r="http://schemas.openxmlformats.org/officeDocument/2006/relationships" r:embed="rId1"/>
</we:webextension>
</file>

<file path=ppt/webextensions/webextension2.xml><?xml version="1.0" encoding="utf-8"?>
<we:webextension xmlns:we="http://schemas.microsoft.com/office/webextensions/webextension/2010/11" id="{D98B1A7B-C6F8-449A-9D40-D150A9BC2E91}">
  <we:reference id="wa200003233" version="2.0.0.3" store="es-ES" storeType="OMEX"/>
  <we:alternateReferences>
    <we:reference id="wa200003233" version="2.0.0.3" store="wa200003233" storeType="OMEX"/>
  </we:alternateReferences>
  <we:properties>
    <we:property name="embedUrl" value="&quot;/reportEmbed?reportId=29dd0c0c-af18-49c8-906d-77407b6ee156&amp;config=eyJjbHVzdGVyVXJsIjoiaHR0cHM6Ly9XQUJJLVNPVVRILUNFTlRSQUwtVVMtcmVkaXJlY3QuYW5hbHlzaXMud2luZG93cy5uZXQiLCJlbWJlZEZlYXR1cmVzIjp7InVzYWdlTWV0cmljc1ZOZXh0Ijp0cnVlfX0%3D&amp;disableSensitivityBanner=true&amp;storytellingChangeViewModeShortcutKeys=true&quot;"/>
    <we:property name="bookmark" value="&quot;H4sIAAAAAAAAA+1YzW7bRhB+lYCXXIRiuT+k6JutuGmBODViw5fCEGZ3R/IGFEksl25UQ4/UUx8hL9bhUm0sx7ULxZXVJjqRs6uZ+eb7dobkTWJd25SwfAsLTA6SE/AGbO1fpMkoqQbbuGBFPlYGgK44K5TVOa3WTXB11SYHN0kAP8dw4doOyt4RGX++HCVQlqcw7+9mULY4Shr0bV1B6X7FYTMtBd/hapTgh6asPfQuzwIE7N1e03a6pxTS7wRFBBPcNZ6hCYOVG2MKLce50oxJyLRWhra1w4aY2b1betcx/KSuAriKwvQ2pXIsFFipQegiBalz1ttnrgzrLXp5/KHxhI4wL5u+OBPKdV57Z6BMIgqP7ZD0TTKpy24Rr4437Gd15w2+w1lcqoILS/J0hVCGq2RFxTj1NZUqWl8jpVdH61X9y8QjxbPJAVtdkqV11bxcl/ITqvMhs7Z0Bn1PlH5PFYn5L5CI6i8sBIgwmiGUw2G9tnEZI8qb5I0j5IPvCyi73u3LI2ideUkZ0e+yz2ughXJ+f6vwcXsbQzxpGSgirRjBMp4VWhRMZeNMWZ7LR6k6tNdQGareXZ5OENrO45dleF4HKKekqOnh5GIbvgx4u8EW/aH2Fv3RMqJ45fyfyuejO4n+KwgGdnk+zuj4GMultlxbxkXx7KdiQrVydQPh429wT61Hu+T8xSkYh1UgtW/BugY/uQIfnp/5DRyry78512tml092su9QOZxvzcZSFCCklOmY2rAVudqH8/0g16Odyf/Hk8n0HVTUyrfpM2XXUhHRDpl83eq7XclBemiFmbFZwa0FeuwxVqZmH6T3wGjZnfC2HG22rrqwJ0LbGHC7ktkQb93buMgxVWAkBzCa55nM90Fge9LbfnD9FVat+/h7tVV/+9bWPivioDzQKgfIgDHFU5NaKbJvU/VTLm+JmHJKhgXSE8n0FU5fl52pW9h+1jYOv24hPl7TQZpcyMxowYQAEifjmv2Dqbun0+5/9eJ9e3KN0YKkZ/FM80IUSqcqxe37x+F87nEOYX17/OT0HVuw0fZ9V60PWLrj9/Jnwrh+c+eZ0HmqGIOcU9fPAZ+93f90fvhmeub+wx9J7iAYSp0LpTNUJrdMWCGtzvMY50EsbgHUEzbA9L4sGATOpSwyYTmOhSzSR31BBH3UhUCQPnNZGJQpm0mpMskyi1hk7ItcRq/3tbe6C21DAE6hwnvaHEkKKttz/WCri5+L/2p0q9UfORIooqYWAAA=&quot;"/>
    <we:property name="datasetId" value="&quot;dc29c07d-a772-440c-8604-4f97bccae57a&quot;"/>
    <we:property name="pageName" value="&quot;2ccc9b4875b004a6bb5c&quot;"/>
    <we:property name="reportUrl" value="&quot;/groups/me/reports/29dd0c0c-af18-49c8-906d-77407b6ee156/2ccc9b4875b004a6bb5c&quot;"/>
    <we:property name="reportName" value="&quot;Ciencia de datos OFICIAL&quot;"/>
    <we:property name="reportState" value="&quot;CONNECTED&quot;"/>
    <we:property name="pageDisplayName" value="&quot;Condiciones Médicas Individuales&quot;"/>
    <we:property name="backgroundColor" value="&quot;#FFFFFF&quot;"/>
    <we:property name="initialStateBookmark" value="&quot;H4sIAAAAAAAAA+1YwXLbNhD9lQwvuWg6IACSom+yoqadRLbH9vjS8WgWwEpGhiI1IOhG9eiTcuon5Me6BNXEchy7o7iy2kQncgHt7tu3eEvyJjK2XhSwPII5RgfRGJwGU7kXcdSLys52eHz8Zjw4fTM5GoxHZK4W3lZlHR3cRB7cDP2FrRsoWg9k/O2yF0FRnMCsvZtCUWMvWqCrqxIK+wd2m2nJuwZXvQjfL4rKQevyzIPH1u01bad7ih3/JCgiaG+v8Qy176xca50r2c8SxZiEVKlE07a62xAyu3dL6zqEH1alB1tSmNaWJBnmCRipQKg8Bqky1tqntvDrLWo5er9whI4wLxdtVYaU66xyVkMRBRQO6y7pm2hYFc08XI027GdV4zSe4jQsld76JXm6Qij8VbSiYpy4ikoVrK+R0quC9ar6feiQ4pnogK0uyVLbclasS/kZ1XmXWV1Yja4lSr2jioT850hEtRcGPAQYiy6UxW69MmEZA8qb6K0l5J3vCyia1u3LQ6itfkkZ0e+yzaujhXJ+d6vwYXsdQjxpGSgirWjBUp7mSuQsSftpYngmH6VqYK6h1FS9uzyNEerG4bdleF55KCbUUZPB8GIbvjQ4s8EW/aFyBt3hMqB4Zd3fnc97dxL9VxB07PKsn9Lx0YZLZbgyjIv82U/FkGplqwX4jx/gnlr3dsn5ixPQFktP3b4F6wrc8Aqcf37mN3CsLr9yrtfMLp/sZN+hsjvfivWlyEFIKeM+ybARWbIP5/tBrns7a/9fx8PJKZQk5dvoTNHUVEQ0XSbfd/fdrmTXemiEnrJpzo2BPOtrI2O9D633wGjZXeNtOdpMVTZ+TxptY8Dtqs26eGtt4yLDOAEtOYBWPEtltg8Ntifa9ottr7Cs7cc/y6307YesfVHErvNAJRlACowlPNaxkSL9MVU/53JExBQTMsyRnkgmr3Dyumh0VcP2s3Zh8ftuxMdr2rUmFzLVSjAhgJqTccX+wdTd02n3v3rxvj25+mhA0rN4qngu8kTFSYzb68dgNnM4A7++HT05fSMDJth+bsr1AYt3/F7+TBjXb+48FSqLE8Yg46T6GeCzy/3x+eDt5Mz+hz+S3EHQlToTiUox0ZlhwghpVJaFOA9isXMgTdgA0/oyoBE4lzJPheHYFzKPH/UFAfRh4z1B+sJlrlHGbCplkkqWGsQ8Zd/kMni9T96qxtcLAnACJd4jc9RSUJqW6welLnwujkIQSsmq4jFtbD8ifxLG1eov5wPZXc8WAAA=&quot;"/>
    <we:property name="isFiltersActionButtonVisible" value="true"/>
    <we:property name="isVisualContainerHeaderHidden" value="false"/>
    <we:property name="reportEmbeddedTime" value="&quot;2025-11-21T13:45:34.122Z&quot;"/>
    <we:property name="creatorTenantId" value="&quot;07da67a0-1f43-4e8c-977f-5f88b6470ee6&quot;"/>
    <we:property name="creatorUserId" value="&quot;10032001D6E266CD&quot;"/>
    <we:property name="creatorSessionId" value="&quot;73632ebe-48d9-4373-96a4-df7cf38df608&quot;"/>
  </we:properties>
  <we:bindings/>
  <we:snapshot xmlns:r="http://schemas.openxmlformats.org/officeDocument/2006/relationships" r:embed="rId1"/>
</we:webextension>
</file>

<file path=ppt/webextensions/webextension3.xml><?xml version="1.0" encoding="utf-8"?>
<we:webextension xmlns:we="http://schemas.microsoft.com/office/webextensions/webextension/2010/11" id="{D034EEFB-7D94-4682-9829-D6E43A69338B}">
  <we:reference id="wa200003233" version="2.0.0.3" store="es-ES" storeType="OMEX"/>
  <we:alternateReferences>
    <we:reference id="wa200003233" version="2.0.0.3" store="wa200003233" storeType="OMEX"/>
  </we:alternateReferences>
  <we:properties>
    <we:property name="embedUrl" value="&quot;/reportEmbed?reportId=29dd0c0c-af18-49c8-906d-77407b6ee156&amp;config=eyJjbHVzdGVyVXJsIjoiaHR0cHM6Ly9XQUJJLVNPVVRILUNFTlRSQUwtVVMtcmVkaXJlY3QuYW5hbHlzaXMud2luZG93cy5uZXQiLCJlbWJlZEZlYXR1cmVzIjp7InVzYWdlTWV0cmljc1ZOZXh0Ijp0cnVlfX0%3D&amp;disableSensitivityBanner=true&amp;storytellingChangeViewModeShortcutKeys=true&quot;"/>
    <we:property name="bookmark" value="&quot;H4sIAAAAAAAAA+1Z32/bNhD+Vwq99MUYSEqkpLw5jhsMaLqsCbICQ2CcyLOjTpYEisriBv7fd6K8rUmcZnDd2saqF1tHmvzuvu+OP3wfmLypC1i8gzkGR8EZWA2msq94MAjK3iZFlE45F0onJuOJijIjqLWqXV6VTXB0HziwM3RXedNC0Q1Ext8DrkTEMowh4TLOIh6pVAXXgwCK4hxmXZ8pFA0OghptU5VQ5J+wH4KanG1xOQjwri4qC91EFw4cdpPdUnd6J2D8p5BwgHb5LV6gdr11GmmVTpWWoQYpM8WYQerW9B083rVduqH99KOqdJCXNE1n47HUKCEOQwFaMQ4xKj9GXrhVl2wxvqst+UyRWNRdyEaEdVbZXEMReC8sNj3o+2BUFe3cfxs/sF9UrdX4Hqe+qXS5W9BINwiFuwmWFIxzW1GovPUUCV7lrTfVnyOLNJ8JjtjymixNXs6KVSj/9eqyR9YUuUbb0Zd9pIh4/HMk+rovBhx4N+p+qhz79qoPD3ov74O3OXnej30FRdsN+/oYmly/JkT0XHe4eloI88fPAu+7N36KrYaBZqQWZhLOI5akccZBxPQZv0zV0NxCqSl6j3k6Q2hai1+H8LJyUExIUZPh6GoTvjRY84At+kFlDdrjhffiJLd/K18MHgH9Jh707MYpiAgUV0kMRlACSdD7EOpX56BzLB2J7GCD/cCHPtwKUxllqGQmBYRhhlrLnRehceNoqZic4ORNOwe7JuCDPcmy74bjl8vh28lFvnm2F21DhKLp+RndgHW7FeQjj5bXz1T2ldgWW6vtT9XVF3lhzDTL0oxrHoWhihRnyT5UngOQ3+AA9ic/MuC53U3CIqMTxXTItESGERhzMML/1oK7zGtfK8bzusB1wtuXHPyRAF9B6mqbn4BIjcxS5FkkhUSlYeeboXcUj2JChjma3KM+LVpdNbDTtNh4PRrOZhZn4Fav460jGxsw3vamLVfyZZscZzU4In1tlqwV6YetqfNLjPdCjcOUyVgbxpCpLDMxsmjzir0LSvj+ifdFSRxXd1Ca327y5o+uSJ4Nf+WJCIcnYXpyKcJoeCxDwVQ45iIZfvhPmtGrwnZqq7bemn5693qlrL0r2/HavjebyZ/PRpP3UM5wj0+YB7isP7nX+V7L+ud89vKfpiLKMBGZTE3EIsrOON35iv7y9cb/67L1uQM5pnQkQakl42l3FQiJ3vfadQAXgU823Z7mUAoRJwmGiY5SloZC+A3FF30BD/S4dY5gPPDJP+vFWbWuqUHjOZS4RqTEGa2xaF4Qqv+D5x+ZLpd/AYoO5HhuGgAA&quot;"/>
    <we:property name="datasetId" value="&quot;dc29c07d-a772-440c-8604-4f97bccae57a&quot;"/>
    <we:property name="pageName" value="&quot;f4c69f6c53ca55b600de&quot;"/>
    <we:property name="reportUrl" value="&quot;/groups/me/reports/29dd0c0c-af18-49c8-906d-77407b6ee156/f4c69f6c53ca55b600de&quot;"/>
    <we:property name="reportName" value="&quot;Ciencia de datos OFICIAL&quot;"/>
    <we:property name="reportState" value="&quot;CONNECTED&quot;"/>
    <we:property name="pageDisplayName" value="&quot;Análisis Relacional de Enfermedades&quot;"/>
    <we:property name="backgroundColor" value="&quot;#FFFFFF&quot;"/>
    <we:property name="initialStateBookmark" value="&quot;H4sIAAAAAAAAA+1ZbW/bNhD+K4W+9IsxUC/US77JjhsMrZMsMbICQ2CcyLPDTpYEisriBf7vO1He1iROPbhubWPVF1snmvfcPc8dKfrRkaquclicwxydE2cEWoAs9RvX6TlFZ+tfXLwfpVfvJ+fpaEjmsjKqLGrn5NExoGdoblTdQN7OQMbfbnsO5PklzNq7KeQ19pwKdV0WkKs/sRtMj4xucNlz8KHKSw3tlNcGDLbT3tNwuiff7k8+eQRh1D1eozCddRqIMJmGgvsCOM9CxiTSsLobYJGtHdJObd0PysKAKshNa3MjLpBD5PseiJC5EGFo51C5WQ3JFsOHSlN0FPOiarMyIKyzUisBuWOj0Fh3oB+dQZk3c/tt+MR+XTZa4BVO7aPCKLOgme4QcnPnLCkZl7qkVFnrGRK80lrvyj8GGsmfdE7Y8pYstSpm+SqV/0Y17pDVuRKoW6KyT5QRi3+ORFT7RYIBG0bVuVLYPS+79KCN8tH5oCjybu4byJt22rd9qJV4S4joum1xdbQQ5k+fJd4Or62LnaaBPNITJmPXDVicRJkLXkSf0WaqUnkPhaDsPedphFA3Gr8O4bg0kE9IUZN0cLMNXwK0fMIW/aDUEnV/YaM4Vfpv5Xu9Z0C/SQQdu1ECXgChG8YRSI8KiIM4hFS/uQShsDAksqNN9pMYunSHmPAgw5Bn3APfz1AIvvcmNKwNrQaTU5y8a+ag1yS8dyBV9t1wXIzTD5NrtX21501NhKLs+BncgTb7FeSziJa3r3T2ldgWO+vtL9XVNXlPymmWJZkr3MD3wyB0WXwInecI5Nc7gv3Jjwp4bXcTs0CKOGTCZ4IjwwCkPBrhf2vBjVVle8VwXuW4TniHUoM/CuArSF1t82PwEsmzBN0s4B7HUMDeN0PnlI98QoY5SmVRn+WNKGvYa1lsvR6ls5nGGZjV7XDnyIYSpLW9a4qVfNk2r7MCDJG+tkrWivTjztT5JcY7oUZ+wngkJGPIwiyTEbJg+469D0rcwxPvRkn0ywco5K93qv69bZKj9Bc39vz01E9Ox54fpH3ueyz0h64Xpx//k2bEqrGd6bKpdqafLrxOKW7oBSzDCGKXR1ngBmGy95OLg9lM/jwaTK6gmOEBv2Ee4bL+4lzney3rn/PZyX+aeEGGsZfxRAYsoOqMkr2v6JuPN/5fh62vvZBjQq8kyAVnbtIeBUIsDr13HcFB4ItNt6XZ554XxTH6sQgSlvieZzcUX4wFLNB+YwzBeBKTvdaLs2xMXYHASyhwjUiJM1pjUW4Qqv2Dx7FOCJLK8k3Kbv/2+UfWy+Vfdbasj4EaAAA=&quot;"/>
    <we:property name="isFiltersActionButtonVisible" value="true"/>
    <we:property name="isVisualContainerHeaderHidden" value="false"/>
    <we:property name="reportEmbeddedTime" value="&quot;2025-11-21T13:46:39.430Z&quot;"/>
    <we:property name="creatorTenantId" value="&quot;07da67a0-1f43-4e8c-977f-5f88b6470ee6&quot;"/>
    <we:property name="creatorUserId" value="&quot;10032001D6E266CD&quot;"/>
    <we:property name="creatorSessionId" value="&quot;72c26fae-0b59-4fc8-8d6d-683ca740ef97&quot;"/>
  </we:properties>
  <we:bindings/>
  <we:snapshot xmlns:r="http://schemas.openxmlformats.org/officeDocument/2006/relationships" r:embed="rId1"/>
</we:webextension>
</file>

<file path=docProps/app.xml><?xml version="1.0" encoding="utf-8"?>
<Properties xmlns="http://schemas.openxmlformats.org/officeDocument/2006/extended-properties" xmlns:vt="http://schemas.openxmlformats.org/officeDocument/2006/docPropsVTypes">
  <Template>Formato diapositivas</Template>
  <TotalTime>815</TotalTime>
  <Words>693</Words>
  <Application>Microsoft Office PowerPoint</Application>
  <PresentationFormat>Panorámica</PresentationFormat>
  <Paragraphs>54</Paragraphs>
  <Slides>13</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13</vt:i4>
      </vt:variant>
    </vt:vector>
  </HeadingPairs>
  <TitlesOfParts>
    <vt:vector size="19" baseType="lpstr">
      <vt:lpstr>Anton</vt:lpstr>
      <vt:lpstr>Arial</vt:lpstr>
      <vt:lpstr>Calibri</vt:lpstr>
      <vt:lpstr>Century Gothic</vt:lpstr>
      <vt:lpstr>Poppins</vt:lpstr>
      <vt:lpstr>UCUNDINAMARCA GRIS v2</vt:lpstr>
      <vt:lpstr>SISTEMA PREDICTIVO DE ACV.SISTEMA PREDICTIVO DE ACV.</vt:lpstr>
      <vt:lpstr>Implementación </vt:lpstr>
      <vt:lpstr>Metodología CRISP-DM</vt:lpstr>
      <vt:lpstr>CONTEXTUALIZACIÓN</vt:lpstr>
      <vt:lpstr>Planteamiento del Problema</vt:lpstr>
      <vt:lpstr>Objetivos</vt:lpstr>
      <vt:lpstr>Análisis Encontrados</vt:lpstr>
      <vt:lpstr>Dashboard </vt:lpstr>
      <vt:lpstr>Dashboard</vt:lpstr>
      <vt:lpstr>Dashboard </vt:lpstr>
      <vt:lpstr>Hallazgos</vt:lpstr>
      <vt:lpstr>Conclusiones</vt:lpstr>
      <vt:lpstr>¡MUCHAS 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Predictivo del Perfil Socioeconómico en la Aprobación de Crédito</dc:title>
  <dc:creator>Sarha Valenzuela</dc:creator>
  <cp:lastModifiedBy>DARIKSON FELIPE PEREZ RODRIGUEZ</cp:lastModifiedBy>
  <cp:revision>10</cp:revision>
  <dcterms:created xsi:type="dcterms:W3CDTF">2025-05-19T03:28:15Z</dcterms:created>
  <dcterms:modified xsi:type="dcterms:W3CDTF">2025-11-21T13:57:32Z</dcterms:modified>
</cp:coreProperties>
</file>